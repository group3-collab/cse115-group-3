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56" r:id="rId2"/>
    <p:sldId id="257" r:id="rId3"/>
    <p:sldId id="259" r:id="rId4"/>
    <p:sldId id="260" r:id="rId5"/>
    <p:sldId id="265" r:id="rId6"/>
    <p:sldId id="266" r:id="rId7"/>
    <p:sldId id="267" r:id="rId8"/>
    <p:sldId id="261" r:id="rId9"/>
    <p:sldId id="268" r:id="rId10"/>
    <p:sldId id="263" r:id="rId11"/>
  </p:sldIdLst>
  <p:sldSz cx="14630400" cy="8229600"/>
  <p:notesSz cx="8229600" cy="14630400"/>
  <p:embeddedFontLs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Inter Bold" panose="02000503000000020004" pitchFamily="2" charset="0"/>
      <p:bold r:id="rId18"/>
    </p:embeddedFont>
    <p:embeddedFont>
      <p:font typeface="Consolas" panose="020B0609020204030204" pitchFamily="49" charset="0"/>
      <p:regular r:id="rId19"/>
      <p:bold r:id="rId20"/>
      <p:italic r:id="rId21"/>
      <p:boldItalic r:id="rId22"/>
    </p:embeddedFont>
    <p:embeddedFont>
      <p:font typeface="Inter" panose="02000503000000020004" pitchFamily="2" charset="0"/>
      <p:regular r:id="rId23"/>
      <p:bold r:id="rId24"/>
      <p:italic r:id="rId25"/>
      <p:boldItalic r:id="rId26"/>
    </p:embeddedFont>
    <p:embeddedFont>
      <p:font typeface="Gelasio" panose="020B0604020202020204" charset="0"/>
      <p:regular r:id="rId27"/>
    </p:embeddedFont>
    <p:embeddedFont>
      <p:font typeface="Aptos" panose="020B0004020202090204" pitchFamily="34" charset="0"/>
      <p:boldItalic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643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6" d="100"/>
          <a:sy n="76" d="100"/>
        </p:scale>
        <p:origin x="52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44" d="100"/>
          <a:sy n="44" d="100"/>
        </p:scale>
        <p:origin x="3618" y="3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openxmlformats.org/officeDocument/2006/relationships/font" Target="fonts/font5.fntdata"/><Relationship Id="rId26" Type="http://schemas.openxmlformats.org/officeDocument/2006/relationships/font" Target="fonts/font13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font" Target="fonts/font15.fntdata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font" Target="fonts/font14.fntdata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565525" cy="733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660900" y="0"/>
            <a:ext cx="3567113" cy="733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F6998D-0111-491C-B6D7-DC2A0D096EE3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13896975"/>
            <a:ext cx="3565525" cy="733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660900" y="13896975"/>
            <a:ext cx="3567113" cy="733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F8B549-1385-43B7-8D37-1BD41232ECD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778426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921051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2816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4422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07763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586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02D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6434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02D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6434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02D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6434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02D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6434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02D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6434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02D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6434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02D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6434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02D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6434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02D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6434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64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692077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chemeClr val="bg1"/>
                </a:solidFill>
                <a:latin typeface="Inter Bold"/>
                <a:ea typeface="Gelasio" pitchFamily="34" charset="-122"/>
                <a:cs typeface="Gelasio" pitchFamily="34" charset="-120"/>
              </a:rPr>
              <a:t>Hangman Game:</a:t>
            </a:r>
            <a:endParaRPr lang="en-US" sz="4450" b="1" dirty="0">
              <a:solidFill>
                <a:schemeClr val="bg1"/>
              </a:solidFill>
              <a:latin typeface="Inter Bold"/>
            </a:endParaRPr>
          </a:p>
        </p:txBody>
      </p:sp>
      <p:sp>
        <p:nvSpPr>
          <p:cNvPr id="4" name="Text 1"/>
          <p:cNvSpPr/>
          <p:nvPr/>
        </p:nvSpPr>
        <p:spPr>
          <a:xfrm>
            <a:off x="793790" y="2652573"/>
            <a:ext cx="7499985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chemeClr val="bg1"/>
                </a:solidFill>
                <a:latin typeface="Inter Bold"/>
                <a:ea typeface="Gelasio" pitchFamily="34" charset="-122"/>
                <a:cs typeface="Gelasio" pitchFamily="34" charset="-120"/>
              </a:rPr>
              <a:t>Dive into </a:t>
            </a:r>
            <a:r>
              <a:rPr lang="en-US" sz="3550" b="1" dirty="0" smtClean="0">
                <a:solidFill>
                  <a:schemeClr val="bg1"/>
                </a:solidFill>
                <a:latin typeface="Inter Bold"/>
                <a:ea typeface="Gelasio" pitchFamily="34" charset="-122"/>
                <a:cs typeface="Gelasio" pitchFamily="34" charset="-120"/>
              </a:rPr>
              <a:t>a “Word” of Adventure</a:t>
            </a:r>
            <a:endParaRPr lang="en-US" sz="3550" b="1" dirty="0">
              <a:solidFill>
                <a:schemeClr val="bg1"/>
              </a:solidFill>
              <a:latin typeface="Inter Bold"/>
            </a:endParaRPr>
          </a:p>
        </p:txBody>
      </p:sp>
      <p:sp>
        <p:nvSpPr>
          <p:cNvPr id="5" name="Text 2"/>
          <p:cNvSpPr/>
          <p:nvPr/>
        </p:nvSpPr>
        <p:spPr>
          <a:xfrm>
            <a:off x="793790" y="3471266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dirty="0" smtClean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    </a:t>
            </a:r>
            <a:r>
              <a:rPr lang="en-US" sz="2800" dirty="0" smtClean="0">
                <a:solidFill>
                  <a:schemeClr val="bg1"/>
                </a:solidFill>
                <a:latin typeface="Inter Bold"/>
                <a:ea typeface="Gelasio" pitchFamily="34" charset="-122"/>
                <a:cs typeface="Gelasio" pitchFamily="34" charset="-120"/>
              </a:rPr>
              <a:t>By,</a:t>
            </a:r>
          </a:p>
          <a:p>
            <a:pPr marL="0" indent="0" algn="l">
              <a:buNone/>
            </a:pPr>
            <a:r>
              <a:rPr lang="en-US" sz="2800" dirty="0" smtClean="0">
                <a:solidFill>
                  <a:schemeClr val="bg1"/>
                </a:solidFill>
                <a:latin typeface="Inter Bold"/>
                <a:ea typeface="Gelasio" pitchFamily="34" charset="-122"/>
                <a:cs typeface="Gelasio" pitchFamily="34" charset="-120"/>
              </a:rPr>
              <a:t>     Group-3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2800" dirty="0" smtClean="0">
                <a:solidFill>
                  <a:schemeClr val="bg1"/>
                </a:solidFill>
                <a:latin typeface="Inter Bold"/>
                <a:ea typeface="Gelasio" pitchFamily="34" charset="-122"/>
                <a:cs typeface="Gelasio" pitchFamily="34" charset="-120"/>
              </a:rPr>
              <a:t> </a:t>
            </a:r>
          </a:p>
          <a:p>
            <a:pPr marL="457200" indent="-457200" algn="l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US" sz="2800" dirty="0" smtClean="0">
                <a:solidFill>
                  <a:schemeClr val="bg1"/>
                </a:solidFill>
                <a:latin typeface="Inter Bold"/>
                <a:ea typeface="Gelasio" pitchFamily="34" charset="-122"/>
                <a:cs typeface="Gelasio" pitchFamily="34" charset="-120"/>
              </a:rPr>
              <a:t>Intisar </a:t>
            </a:r>
            <a:r>
              <a:rPr lang="en-US" sz="2800" dirty="0" err="1">
                <a:solidFill>
                  <a:schemeClr val="bg1"/>
                </a:solidFill>
                <a:latin typeface="Inter Bold"/>
                <a:ea typeface="Gelasio" pitchFamily="34" charset="-122"/>
                <a:cs typeface="Gelasio" pitchFamily="34" charset="-120"/>
              </a:rPr>
              <a:t>Binthay</a:t>
            </a:r>
            <a:r>
              <a:rPr lang="en-US" sz="2800" dirty="0">
                <a:solidFill>
                  <a:schemeClr val="bg1"/>
                </a:solidFill>
                <a:latin typeface="Inter Bold"/>
                <a:ea typeface="Gelasio" pitchFamily="34" charset="-122"/>
                <a:cs typeface="Gelasio" pitchFamily="34" charset="-120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Inter Bold"/>
                <a:ea typeface="Gelasio" pitchFamily="34" charset="-122"/>
                <a:cs typeface="Gelasio" pitchFamily="34" charset="-120"/>
              </a:rPr>
              <a:t>Fauzul</a:t>
            </a:r>
            <a:r>
              <a:rPr lang="en-US" sz="2800" dirty="0" smtClean="0">
                <a:solidFill>
                  <a:schemeClr val="bg1"/>
                </a:solidFill>
                <a:latin typeface="Inter Bold"/>
                <a:ea typeface="Gelasio" pitchFamily="34" charset="-122"/>
                <a:cs typeface="Gelasio" pitchFamily="34" charset="-120"/>
              </a:rPr>
              <a:t> </a:t>
            </a:r>
          </a:p>
          <a:p>
            <a:pPr marL="457200" indent="-457200" algn="l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US" sz="2800" dirty="0" err="1" smtClean="0">
                <a:solidFill>
                  <a:schemeClr val="bg1"/>
                </a:solidFill>
                <a:latin typeface="Inter Bold"/>
                <a:ea typeface="Gelasio" pitchFamily="34" charset="-122"/>
                <a:cs typeface="Gelasio" pitchFamily="34" charset="-120"/>
              </a:rPr>
              <a:t>Ashfaqul</a:t>
            </a:r>
            <a:r>
              <a:rPr lang="en-US" sz="2800" dirty="0" smtClean="0">
                <a:solidFill>
                  <a:schemeClr val="bg1"/>
                </a:solidFill>
                <a:latin typeface="Inter Bold"/>
                <a:ea typeface="Gelasio" pitchFamily="34" charset="-122"/>
                <a:cs typeface="Gelasio" pitchFamily="34" charset="-120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Inter Bold"/>
                <a:ea typeface="Gelasio" pitchFamily="34" charset="-122"/>
                <a:cs typeface="Gelasio" pitchFamily="34" charset="-120"/>
              </a:rPr>
              <a:t>Alam</a:t>
            </a:r>
            <a:endParaRPr lang="en-US" sz="2800" dirty="0" smtClean="0">
              <a:solidFill>
                <a:schemeClr val="bg1"/>
              </a:solidFill>
              <a:latin typeface="Inter Bold"/>
              <a:ea typeface="Gelasio" pitchFamily="34" charset="-122"/>
              <a:cs typeface="Gelasio" pitchFamily="34" charset="-120"/>
            </a:endParaRPr>
          </a:p>
          <a:p>
            <a:pPr marL="457200" indent="-457200" algn="l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US" sz="2800" dirty="0" smtClean="0">
                <a:solidFill>
                  <a:schemeClr val="bg1"/>
                </a:solidFill>
                <a:latin typeface="Inter Bold"/>
                <a:ea typeface="Gelasio" pitchFamily="34" charset="-122"/>
                <a:cs typeface="Gelasio" pitchFamily="34" charset="-120"/>
              </a:rPr>
              <a:t>Syed </a:t>
            </a:r>
            <a:r>
              <a:rPr lang="en-US" sz="2800" dirty="0">
                <a:solidFill>
                  <a:schemeClr val="bg1"/>
                </a:solidFill>
                <a:latin typeface="Inter Bold"/>
                <a:ea typeface="Gelasio" pitchFamily="34" charset="-122"/>
                <a:cs typeface="Gelasio" pitchFamily="34" charset="-120"/>
              </a:rPr>
              <a:t>Sadat </a:t>
            </a:r>
            <a:r>
              <a:rPr lang="en-US" sz="2800" dirty="0" smtClean="0">
                <a:solidFill>
                  <a:schemeClr val="bg1"/>
                </a:solidFill>
                <a:latin typeface="Inter Bold"/>
                <a:ea typeface="Gelasio" pitchFamily="34" charset="-122"/>
                <a:cs typeface="Gelasio" pitchFamily="34" charset="-120"/>
              </a:rPr>
              <a:t>Hasan</a:t>
            </a:r>
          </a:p>
          <a:p>
            <a:pPr marL="457200" indent="-457200" algn="l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US" sz="2800" dirty="0" err="1" smtClean="0">
                <a:solidFill>
                  <a:schemeClr val="bg1"/>
                </a:solidFill>
                <a:latin typeface="Inter Bold"/>
                <a:ea typeface="Gelasio" pitchFamily="34" charset="-122"/>
                <a:cs typeface="Gelasio" pitchFamily="34" charset="-120"/>
              </a:rPr>
              <a:t>Rafiha</a:t>
            </a:r>
            <a:r>
              <a:rPr lang="en-US" sz="2800" dirty="0" smtClean="0">
                <a:solidFill>
                  <a:schemeClr val="bg1"/>
                </a:solidFill>
                <a:latin typeface="Inter Bold"/>
                <a:ea typeface="Gelasio" pitchFamily="34" charset="-122"/>
                <a:cs typeface="Gelasio" pitchFamily="34" charset="-120"/>
              </a:rPr>
              <a:t> </a:t>
            </a:r>
            <a:r>
              <a:rPr lang="en-US" sz="2800" dirty="0">
                <a:solidFill>
                  <a:schemeClr val="bg1"/>
                </a:solidFill>
                <a:latin typeface="Inter Bold"/>
                <a:ea typeface="Gelasio" pitchFamily="34" charset="-122"/>
                <a:cs typeface="Gelasio" pitchFamily="34" charset="-120"/>
              </a:rPr>
              <a:t>Saleha</a:t>
            </a:r>
            <a:endParaRPr lang="en-US" sz="2800" dirty="0">
              <a:solidFill>
                <a:schemeClr val="bg1"/>
              </a:solidFill>
              <a:latin typeface="Inter Bold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54605" y="7789506"/>
            <a:ext cx="77844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Group-3 | Members: Intisar </a:t>
            </a:r>
            <a:r>
              <a:rPr lang="en-US" sz="1600" dirty="0" err="1">
                <a:solidFill>
                  <a:schemeClr val="bg1">
                    <a:lumMod val="65000"/>
                  </a:schemeClr>
                </a:solidFill>
              </a:rPr>
              <a:t>Binthay</a:t>
            </a: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bg1">
                    <a:lumMod val="65000"/>
                  </a:schemeClr>
                </a:solidFill>
              </a:rPr>
              <a:t>Fauzul</a:t>
            </a: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, </a:t>
            </a:r>
            <a:r>
              <a:rPr lang="en-US" sz="1600" dirty="0" err="1">
                <a:solidFill>
                  <a:schemeClr val="bg1">
                    <a:lumMod val="65000"/>
                  </a:schemeClr>
                </a:solidFill>
              </a:rPr>
              <a:t>Ashfaqul</a:t>
            </a: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bg1">
                    <a:lumMod val="65000"/>
                  </a:schemeClr>
                </a:solidFill>
              </a:rPr>
              <a:t>Alam</a:t>
            </a: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, Syed Sadat Hasan, </a:t>
            </a:r>
            <a:r>
              <a:rPr lang="en-US" sz="1600" dirty="0" err="1">
                <a:solidFill>
                  <a:schemeClr val="bg1">
                    <a:lumMod val="65000"/>
                  </a:schemeClr>
                </a:solidFill>
              </a:rPr>
              <a:t>Rafiha</a:t>
            </a: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bg1">
                    <a:lumMod val="65000"/>
                  </a:schemeClr>
                </a:solidFill>
              </a:rPr>
              <a:t>Saleha</a:t>
            </a:r>
            <a:endParaRPr lang="en-US" sz="16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7956" y="619720"/>
            <a:ext cx="4503182" cy="5628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b="1" dirty="0">
                <a:solidFill>
                  <a:schemeClr val="bg1"/>
                </a:solidFill>
                <a:latin typeface="Inter Bold"/>
                <a:ea typeface="Gelasio" pitchFamily="34" charset="-122"/>
                <a:cs typeface="Gelasio" pitchFamily="34" charset="-120"/>
              </a:rPr>
              <a:t>Project Overview</a:t>
            </a:r>
            <a:endParaRPr lang="en-US" sz="3500" b="1" dirty="0">
              <a:solidFill>
                <a:schemeClr val="bg1"/>
              </a:solidFill>
              <a:latin typeface="Inter Bold"/>
            </a:endParaRPr>
          </a:p>
        </p:txBody>
      </p:sp>
      <p:sp>
        <p:nvSpPr>
          <p:cNvPr id="4" name="Text 1"/>
          <p:cNvSpPr/>
          <p:nvPr/>
        </p:nvSpPr>
        <p:spPr>
          <a:xfrm>
            <a:off x="787956" y="1520190"/>
            <a:ext cx="7568089" cy="720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b="1" dirty="0">
                <a:solidFill>
                  <a:schemeClr val="bg1"/>
                </a:solidFill>
                <a:latin typeface="Inter Bold"/>
                <a:ea typeface="Gelasio" pitchFamily="34" charset="-122"/>
                <a:cs typeface="Gelasio" pitchFamily="34" charset="-120"/>
              </a:rPr>
              <a:t>We made a new version of the classic Hangman game for your computer screen.</a:t>
            </a:r>
            <a:endParaRPr lang="en-US" sz="1750" b="1" dirty="0">
              <a:solidFill>
                <a:schemeClr val="bg1"/>
              </a:solidFill>
              <a:latin typeface="Inter Bold"/>
            </a:endParaRPr>
          </a:p>
        </p:txBody>
      </p:sp>
      <p:sp>
        <p:nvSpPr>
          <p:cNvPr id="5" name="Shape 2"/>
          <p:cNvSpPr/>
          <p:nvPr/>
        </p:nvSpPr>
        <p:spPr>
          <a:xfrm>
            <a:off x="787956" y="2493764"/>
            <a:ext cx="900589" cy="1350883"/>
          </a:xfrm>
          <a:prstGeom prst="roundRect">
            <a:avLst>
              <a:gd name="adj" fmla="val 360021"/>
            </a:avLst>
          </a:prstGeom>
          <a:solidFill>
            <a:srgbClr val="3734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1069419" y="2958108"/>
            <a:ext cx="337661" cy="4220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6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1</a:t>
            </a:r>
            <a:endParaRPr lang="en-US" sz="2650" dirty="0"/>
          </a:p>
        </p:txBody>
      </p:sp>
      <p:sp>
        <p:nvSpPr>
          <p:cNvPr id="7" name="Text 4"/>
          <p:cNvSpPr/>
          <p:nvPr/>
        </p:nvSpPr>
        <p:spPr>
          <a:xfrm>
            <a:off x="1913692" y="2718911"/>
            <a:ext cx="2814399" cy="351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chemeClr val="bg1"/>
                </a:solidFill>
                <a:latin typeface="Inter Bold"/>
                <a:ea typeface="Gelasio" pitchFamily="34" charset="-122"/>
                <a:cs typeface="Gelasio" pitchFamily="34" charset="-120"/>
              </a:rPr>
              <a:t>Core</a:t>
            </a:r>
            <a:endParaRPr lang="en-US" sz="2200" b="1" dirty="0">
              <a:solidFill>
                <a:schemeClr val="bg1"/>
              </a:solidFill>
              <a:latin typeface="Inter Bold"/>
            </a:endParaRPr>
          </a:p>
        </p:txBody>
      </p:sp>
      <p:sp>
        <p:nvSpPr>
          <p:cNvPr id="8" name="Text 5"/>
          <p:cNvSpPr/>
          <p:nvPr/>
        </p:nvSpPr>
        <p:spPr>
          <a:xfrm>
            <a:off x="1913692" y="3205758"/>
            <a:ext cx="6442353" cy="3601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b="1" dirty="0">
                <a:solidFill>
                  <a:schemeClr val="bg1"/>
                </a:solidFill>
                <a:latin typeface="Inter Bold"/>
                <a:ea typeface="Gelasio" pitchFamily="34" charset="-122"/>
                <a:cs typeface="Gelasio" pitchFamily="34" charset="-120"/>
              </a:rPr>
              <a:t>The game chooses words smartly to keep it fun and interesting.</a:t>
            </a:r>
            <a:endParaRPr lang="en-US" sz="1750" b="1" dirty="0">
              <a:solidFill>
                <a:schemeClr val="bg1"/>
              </a:solidFill>
              <a:latin typeface="Inter Bold"/>
            </a:endParaRPr>
          </a:p>
        </p:txBody>
      </p:sp>
      <p:sp>
        <p:nvSpPr>
          <p:cNvPr id="9" name="Shape 6"/>
          <p:cNvSpPr/>
          <p:nvPr/>
        </p:nvSpPr>
        <p:spPr>
          <a:xfrm>
            <a:off x="787956" y="4069794"/>
            <a:ext cx="900589" cy="1657469"/>
          </a:xfrm>
          <a:prstGeom prst="roundRect">
            <a:avLst>
              <a:gd name="adj" fmla="val 360021"/>
            </a:avLst>
          </a:prstGeom>
          <a:solidFill>
            <a:srgbClr val="3734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1069419" y="4687491"/>
            <a:ext cx="337661" cy="4220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6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2</a:t>
            </a:r>
            <a:endParaRPr lang="en-US" sz="2650" dirty="0"/>
          </a:p>
        </p:txBody>
      </p:sp>
      <p:sp>
        <p:nvSpPr>
          <p:cNvPr id="11" name="Text 8"/>
          <p:cNvSpPr/>
          <p:nvPr/>
        </p:nvSpPr>
        <p:spPr>
          <a:xfrm>
            <a:off x="1913692" y="4294942"/>
            <a:ext cx="2814399" cy="351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chemeClr val="bg1"/>
                </a:solidFill>
                <a:latin typeface="Inter Bold"/>
                <a:ea typeface="Gelasio" pitchFamily="34" charset="-122"/>
                <a:cs typeface="Gelasio" pitchFamily="34" charset="-120"/>
              </a:rPr>
              <a:t>Easy to Use</a:t>
            </a:r>
            <a:endParaRPr lang="en-US" sz="2200" b="1" dirty="0">
              <a:solidFill>
                <a:schemeClr val="bg1"/>
              </a:solidFill>
              <a:latin typeface="Inter Bold"/>
            </a:endParaRPr>
          </a:p>
        </p:txBody>
      </p:sp>
      <p:sp>
        <p:nvSpPr>
          <p:cNvPr id="12" name="Text 9"/>
          <p:cNvSpPr/>
          <p:nvPr/>
        </p:nvSpPr>
        <p:spPr>
          <a:xfrm>
            <a:off x="1913692" y="4781788"/>
            <a:ext cx="6442353" cy="720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b="1" dirty="0">
                <a:solidFill>
                  <a:schemeClr val="bg1"/>
                </a:solidFill>
                <a:latin typeface="Inter Bold"/>
                <a:ea typeface="Gelasio" pitchFamily="34" charset="-122"/>
                <a:cs typeface="Gelasio" pitchFamily="34" charset="-120"/>
              </a:rPr>
              <a:t>Simple instructions and clear pictures make it easy for anyone to play.</a:t>
            </a:r>
            <a:endParaRPr lang="en-US" sz="1750" b="1" dirty="0">
              <a:solidFill>
                <a:schemeClr val="bg1"/>
              </a:solidFill>
              <a:latin typeface="Inter Bold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787956" y="5952411"/>
            <a:ext cx="900589" cy="1657469"/>
          </a:xfrm>
          <a:prstGeom prst="roundRect">
            <a:avLst>
              <a:gd name="adj" fmla="val 360021"/>
            </a:avLst>
          </a:prstGeom>
          <a:solidFill>
            <a:srgbClr val="3734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069419" y="6570107"/>
            <a:ext cx="337661" cy="4220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6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3</a:t>
            </a:r>
            <a:endParaRPr lang="en-US" sz="2650" dirty="0"/>
          </a:p>
        </p:txBody>
      </p:sp>
      <p:sp>
        <p:nvSpPr>
          <p:cNvPr id="15" name="Text 12"/>
          <p:cNvSpPr/>
          <p:nvPr/>
        </p:nvSpPr>
        <p:spPr>
          <a:xfrm>
            <a:off x="1913692" y="6177558"/>
            <a:ext cx="2814399" cy="351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chemeClr val="bg1"/>
                </a:solidFill>
                <a:latin typeface="Inter Bold"/>
                <a:ea typeface="Gelasio" pitchFamily="34" charset="-122"/>
                <a:cs typeface="Gelasio" pitchFamily="34" charset="-120"/>
              </a:rPr>
              <a:t>Runs Well</a:t>
            </a:r>
            <a:endParaRPr lang="en-US" sz="2200" b="1" dirty="0">
              <a:solidFill>
                <a:schemeClr val="bg1"/>
              </a:solidFill>
              <a:latin typeface="Inter Bold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1913692" y="6664404"/>
            <a:ext cx="6442353" cy="720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b="1" dirty="0">
                <a:solidFill>
                  <a:schemeClr val="bg1"/>
                </a:solidFill>
                <a:latin typeface="Inter Bold"/>
                <a:ea typeface="Gelasio" pitchFamily="34" charset="-122"/>
                <a:cs typeface="Gelasio" pitchFamily="34" charset="-120"/>
              </a:rPr>
              <a:t>The game is built in a way that makes it work smoothly and quickly.</a:t>
            </a:r>
            <a:endParaRPr lang="en-US" sz="1750" b="1" dirty="0">
              <a:solidFill>
                <a:schemeClr val="bg1"/>
              </a:solidFill>
              <a:latin typeface="Inter Bold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54605" y="7789506"/>
            <a:ext cx="77844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Group-3 | Members: Intisar </a:t>
            </a:r>
            <a:r>
              <a:rPr lang="en-US" sz="1600" dirty="0" err="1">
                <a:solidFill>
                  <a:schemeClr val="bg1">
                    <a:lumMod val="65000"/>
                  </a:schemeClr>
                </a:solidFill>
              </a:rPr>
              <a:t>Binthay</a:t>
            </a: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bg1">
                    <a:lumMod val="65000"/>
                  </a:schemeClr>
                </a:solidFill>
              </a:rPr>
              <a:t>Fauzul</a:t>
            </a: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, </a:t>
            </a:r>
            <a:r>
              <a:rPr lang="en-US" sz="1600" dirty="0" err="1">
                <a:solidFill>
                  <a:schemeClr val="bg1">
                    <a:lumMod val="65000"/>
                  </a:schemeClr>
                </a:solidFill>
              </a:rPr>
              <a:t>Ashfaqul</a:t>
            </a: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bg1">
                    <a:lumMod val="65000"/>
                  </a:schemeClr>
                </a:solidFill>
              </a:rPr>
              <a:t>Alam</a:t>
            </a: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, Syed Sadat Hasan, </a:t>
            </a:r>
            <a:r>
              <a:rPr lang="en-US" sz="1600" dirty="0" err="1">
                <a:solidFill>
                  <a:schemeClr val="bg1">
                    <a:lumMod val="65000"/>
                  </a:schemeClr>
                </a:solidFill>
              </a:rPr>
              <a:t>Rafiha</a:t>
            </a: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bg1">
                    <a:lumMod val="65000"/>
                  </a:schemeClr>
                </a:solidFill>
              </a:rPr>
              <a:t>Saleha</a:t>
            </a:r>
            <a:endParaRPr lang="en-US" sz="16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27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52567" y="751761"/>
            <a:ext cx="4378404" cy="5472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400" b="1" dirty="0">
                <a:solidFill>
                  <a:schemeClr val="bg1"/>
                </a:solidFill>
                <a:latin typeface="Inter Bold"/>
                <a:ea typeface="Gelasio" pitchFamily="34" charset="-122"/>
                <a:cs typeface="Gelasio" pitchFamily="34" charset="-120"/>
              </a:rPr>
              <a:t>Game Flow</a:t>
            </a:r>
            <a:endParaRPr lang="en-US" sz="3400" b="1" dirty="0">
              <a:solidFill>
                <a:schemeClr val="bg1"/>
              </a:solidFill>
              <a:latin typeface="Inter Bold"/>
            </a:endParaRPr>
          </a:p>
        </p:txBody>
      </p:sp>
      <p:sp>
        <p:nvSpPr>
          <p:cNvPr id="4" name="Text 1"/>
          <p:cNvSpPr/>
          <p:nvPr/>
        </p:nvSpPr>
        <p:spPr>
          <a:xfrm>
            <a:off x="6252567" y="1627346"/>
            <a:ext cx="7611666" cy="3502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000" b="1" dirty="0">
                <a:solidFill>
                  <a:schemeClr val="bg1"/>
                </a:solidFill>
                <a:latin typeface="Inter Bold"/>
                <a:ea typeface="Gelasio" pitchFamily="34" charset="-122"/>
                <a:cs typeface="Gelasio" pitchFamily="34" charset="-120"/>
              </a:rPr>
              <a:t>What happens when you play Hangman.</a:t>
            </a:r>
            <a:endParaRPr lang="en-US" sz="2000" b="1" dirty="0">
              <a:solidFill>
                <a:schemeClr val="bg1"/>
              </a:solidFill>
              <a:latin typeface="Inter Bold"/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2567" y="2223849"/>
            <a:ext cx="1094542" cy="131349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565946" y="2442686"/>
            <a:ext cx="2736413" cy="3419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 b="1" dirty="0">
                <a:solidFill>
                  <a:schemeClr val="bg1"/>
                </a:solidFill>
                <a:latin typeface="Inter Bold" panose="02000503000000020004" pitchFamily="2" charset="0"/>
                <a:ea typeface="Inter Bold" panose="02000503000000020004" pitchFamily="2" charset="0"/>
                <a:cs typeface="Gelasio" pitchFamily="34" charset="-120"/>
              </a:rPr>
              <a:t>Game Start</a:t>
            </a:r>
            <a:endParaRPr lang="en-US" sz="2150" b="1" dirty="0">
              <a:solidFill>
                <a:schemeClr val="bg1"/>
              </a:solidFill>
              <a:latin typeface="Inter Bold" panose="02000503000000020004" pitchFamily="2" charset="0"/>
              <a:ea typeface="Inter Bold" panose="02000503000000020004" pitchFamily="2" charset="0"/>
            </a:endParaRPr>
          </a:p>
        </p:txBody>
      </p:sp>
      <p:sp>
        <p:nvSpPr>
          <p:cNvPr id="7" name="Text 3"/>
          <p:cNvSpPr/>
          <p:nvPr/>
        </p:nvSpPr>
        <p:spPr>
          <a:xfrm>
            <a:off x="7565946" y="2915960"/>
            <a:ext cx="6298287" cy="3502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b="1" dirty="0">
                <a:solidFill>
                  <a:schemeClr val="bg1"/>
                </a:solidFill>
                <a:latin typeface="Inter" panose="02000503000000020004" charset="0"/>
                <a:ea typeface="Inter" panose="02000503000000020004" charset="0"/>
                <a:cs typeface="Inter" panose="02000503000000020004" charset="0"/>
              </a:rPr>
              <a:t>Welcome message and rules appear.</a:t>
            </a:r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2567" y="3537347"/>
            <a:ext cx="1094542" cy="131349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565946" y="3756184"/>
            <a:ext cx="2736413" cy="3419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 b="1" dirty="0">
                <a:solidFill>
                  <a:schemeClr val="bg1"/>
                </a:solidFill>
                <a:latin typeface="Inter" panose="02000503000000020004" charset="0"/>
                <a:ea typeface="Inter" panose="02000503000000020004" charset="0"/>
                <a:cs typeface="Inter" panose="02000503000000020004" charset="0"/>
              </a:rPr>
              <a:t>Word Picked</a:t>
            </a:r>
          </a:p>
        </p:txBody>
      </p:sp>
      <p:sp>
        <p:nvSpPr>
          <p:cNvPr id="10" name="Text 5"/>
          <p:cNvSpPr/>
          <p:nvPr/>
        </p:nvSpPr>
        <p:spPr>
          <a:xfrm>
            <a:off x="7565946" y="4229457"/>
            <a:ext cx="6298287" cy="3502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b="1" dirty="0">
                <a:solidFill>
                  <a:schemeClr val="bg1"/>
                </a:solidFill>
                <a:latin typeface="Inter" panose="02000503000000020004" charset="0"/>
                <a:ea typeface="Inter" panose="02000503000000020004" charset="0"/>
                <a:cs typeface="Inter" panose="02000503000000020004" charset="0"/>
              </a:rPr>
              <a:t>A secret word is chosen.</a:t>
            </a:r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52567" y="4850844"/>
            <a:ext cx="1094542" cy="131349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565946" y="5069681"/>
            <a:ext cx="2736413" cy="3419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 b="1" dirty="0">
                <a:solidFill>
                  <a:schemeClr val="bg1"/>
                </a:solidFill>
                <a:latin typeface="Inter Bold" panose="02000503000000020004" pitchFamily="2" charset="0"/>
                <a:ea typeface="Inter Bold" panose="02000503000000020004" pitchFamily="2" charset="0"/>
                <a:cs typeface="Gelasio" pitchFamily="34" charset="-120"/>
              </a:rPr>
              <a:t>Guessing Time</a:t>
            </a:r>
            <a:endParaRPr lang="en-US" sz="2150" b="1" dirty="0">
              <a:solidFill>
                <a:schemeClr val="bg1"/>
              </a:solidFill>
              <a:latin typeface="Inter Bold" panose="02000503000000020004" pitchFamily="2" charset="0"/>
              <a:ea typeface="Inter Bold" panose="02000503000000020004" pitchFamily="2" charset="0"/>
            </a:endParaRPr>
          </a:p>
        </p:txBody>
      </p:sp>
      <p:sp>
        <p:nvSpPr>
          <p:cNvPr id="13" name="Text 7"/>
          <p:cNvSpPr/>
          <p:nvPr/>
        </p:nvSpPr>
        <p:spPr>
          <a:xfrm>
            <a:off x="7565946" y="5542955"/>
            <a:ext cx="6298287" cy="3502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b="1" dirty="0">
                <a:solidFill>
                  <a:schemeClr val="bg1"/>
                </a:solidFill>
                <a:latin typeface="Inter Bold" panose="02000503000000020004" pitchFamily="2" charset="0"/>
                <a:ea typeface="Inter Bold" panose="02000503000000020004" pitchFamily="2" charset="0"/>
                <a:cs typeface="Gelasio" pitchFamily="34" charset="-120"/>
              </a:rPr>
              <a:t>You guess letters. The game tells you if you are right or wrong.</a:t>
            </a:r>
            <a:endParaRPr lang="en-US" sz="1700" b="1" dirty="0">
              <a:solidFill>
                <a:schemeClr val="bg1"/>
              </a:solidFill>
              <a:latin typeface="Inter Bold" panose="02000503000000020004" pitchFamily="2" charset="0"/>
              <a:ea typeface="Inter Bold" panose="02000503000000020004" pitchFamily="2" charset="0"/>
            </a:endParaRPr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52567" y="6164342"/>
            <a:ext cx="1094542" cy="1313498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7565946" y="6383179"/>
            <a:ext cx="2736413" cy="3419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 b="1" dirty="0">
                <a:solidFill>
                  <a:schemeClr val="bg1"/>
                </a:solidFill>
                <a:latin typeface="Inter Bold" panose="02000503000000020004" pitchFamily="2" charset="0"/>
                <a:ea typeface="Inter Bold" panose="02000503000000020004" pitchFamily="2" charset="0"/>
                <a:cs typeface="Gelasio" pitchFamily="34" charset="-120"/>
              </a:rPr>
              <a:t>Win or Lose</a:t>
            </a:r>
            <a:endParaRPr lang="en-US" sz="2150" b="1" dirty="0">
              <a:solidFill>
                <a:schemeClr val="bg1"/>
              </a:solidFill>
              <a:latin typeface="Inter Bold" panose="02000503000000020004" pitchFamily="2" charset="0"/>
              <a:ea typeface="Inter Bold" panose="02000503000000020004" pitchFamily="2" charset="0"/>
            </a:endParaRPr>
          </a:p>
        </p:txBody>
      </p:sp>
      <p:sp>
        <p:nvSpPr>
          <p:cNvPr id="16" name="Text 9"/>
          <p:cNvSpPr/>
          <p:nvPr/>
        </p:nvSpPr>
        <p:spPr>
          <a:xfrm>
            <a:off x="7565946" y="6856452"/>
            <a:ext cx="6298287" cy="3502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b="1" dirty="0">
                <a:solidFill>
                  <a:schemeClr val="bg1"/>
                </a:solidFill>
                <a:latin typeface="Inter Bold" panose="02000503000000020004" pitchFamily="2" charset="0"/>
                <a:ea typeface="Inter Bold" panose="02000503000000020004" pitchFamily="2" charset="0"/>
                <a:cs typeface="Gelasio" pitchFamily="34" charset="-120"/>
              </a:rPr>
              <a:t>The game ends. You see if you won or lost.</a:t>
            </a:r>
            <a:endParaRPr lang="en-US" sz="1700" b="1" dirty="0">
              <a:solidFill>
                <a:schemeClr val="bg1"/>
              </a:solidFill>
              <a:latin typeface="Inter Bold" panose="02000503000000020004" pitchFamily="2" charset="0"/>
              <a:ea typeface="Inter Bold" panose="02000503000000020004" pitchFamily="2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46100" y="4470400"/>
            <a:ext cx="1181100" cy="599281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  <a:r>
              <a:rPr lang="en-US" dirty="0" smtClean="0"/>
              <a:t>uess</a:t>
            </a:r>
            <a:endParaRPr lang="en-US" dirty="0"/>
          </a:p>
        </p:txBody>
      </p:sp>
      <p:sp>
        <p:nvSpPr>
          <p:cNvPr id="18" name="Rectangle 17"/>
          <p:cNvSpPr/>
          <p:nvPr/>
        </p:nvSpPr>
        <p:spPr>
          <a:xfrm>
            <a:off x="546100" y="3237706"/>
            <a:ext cx="1181100" cy="599281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W</a:t>
            </a:r>
            <a:r>
              <a:rPr lang="en-US" dirty="0" smtClean="0"/>
              <a:t>ord</a:t>
            </a:r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2152650" y="3214887"/>
            <a:ext cx="1181100" cy="599281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Correct?</a:t>
            </a:r>
            <a:endParaRPr lang="en-US" dirty="0"/>
          </a:p>
        </p:txBody>
      </p:sp>
      <p:sp>
        <p:nvSpPr>
          <p:cNvPr id="20" name="Rectangle 19"/>
          <p:cNvSpPr/>
          <p:nvPr/>
        </p:nvSpPr>
        <p:spPr>
          <a:xfrm>
            <a:off x="3840044" y="3214887"/>
            <a:ext cx="985956" cy="599281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Win</a:t>
            </a:r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3840044" y="4544973"/>
            <a:ext cx="985956" cy="524708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Score!</a:t>
            </a:r>
            <a:endParaRPr lang="en-US" dirty="0"/>
          </a:p>
        </p:txBody>
      </p:sp>
      <p:sp>
        <p:nvSpPr>
          <p:cNvPr id="22" name="Rectangle 21"/>
          <p:cNvSpPr/>
          <p:nvPr/>
        </p:nvSpPr>
        <p:spPr>
          <a:xfrm>
            <a:off x="2152650" y="4470400"/>
            <a:ext cx="1181100" cy="599281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Wrong?</a:t>
            </a:r>
            <a:endParaRPr lang="en-US" dirty="0"/>
          </a:p>
        </p:txBody>
      </p:sp>
      <p:cxnSp>
        <p:nvCxnSpPr>
          <p:cNvPr id="24" name="Straight Arrow Connector 23"/>
          <p:cNvCxnSpPr/>
          <p:nvPr/>
        </p:nvCxnSpPr>
        <p:spPr>
          <a:xfrm>
            <a:off x="1727200" y="3836987"/>
            <a:ext cx="425450" cy="63341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>
            <a:off x="2730500" y="5069681"/>
            <a:ext cx="0" cy="61991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2152650" y="5725913"/>
            <a:ext cx="1181100" cy="599281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Lose </a:t>
            </a:r>
            <a:r>
              <a:rPr lang="en-US" dirty="0" smtClean="0">
                <a:sym typeface="Wingdings" panose="05000000000000000000" pitchFamily="2" charset="2"/>
              </a:rPr>
              <a:t></a:t>
            </a:r>
            <a:endParaRPr lang="en-US" dirty="0"/>
          </a:p>
        </p:txBody>
      </p:sp>
      <p:sp>
        <p:nvSpPr>
          <p:cNvPr id="33" name="TextBox 32"/>
          <p:cNvSpPr txBox="1"/>
          <p:nvPr/>
        </p:nvSpPr>
        <p:spPr>
          <a:xfrm>
            <a:off x="6738723" y="7777302"/>
            <a:ext cx="77844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Group-3 | Members: Intisar </a:t>
            </a:r>
            <a:r>
              <a:rPr lang="en-US" sz="1600" dirty="0" err="1">
                <a:solidFill>
                  <a:schemeClr val="bg1">
                    <a:lumMod val="65000"/>
                  </a:schemeClr>
                </a:solidFill>
              </a:rPr>
              <a:t>Binthay</a:t>
            </a: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bg1">
                    <a:lumMod val="65000"/>
                  </a:schemeClr>
                </a:solidFill>
              </a:rPr>
              <a:t>Fauzul</a:t>
            </a: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, </a:t>
            </a:r>
            <a:r>
              <a:rPr lang="en-US" sz="1600" dirty="0" err="1">
                <a:solidFill>
                  <a:schemeClr val="bg1">
                    <a:lumMod val="65000"/>
                  </a:schemeClr>
                </a:solidFill>
              </a:rPr>
              <a:t>Ashfaqul</a:t>
            </a: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bg1">
                    <a:lumMod val="65000"/>
                  </a:schemeClr>
                </a:solidFill>
              </a:rPr>
              <a:t>Alam</a:t>
            </a: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, Syed Sadat Hasan, </a:t>
            </a:r>
            <a:r>
              <a:rPr lang="en-US" sz="1600" dirty="0" err="1">
                <a:solidFill>
                  <a:schemeClr val="bg1">
                    <a:lumMod val="65000"/>
                  </a:schemeClr>
                </a:solidFill>
              </a:rPr>
              <a:t>Rafiha</a:t>
            </a: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bg1">
                    <a:lumMod val="65000"/>
                  </a:schemeClr>
                </a:solidFill>
              </a:rPr>
              <a:t>Saleha</a:t>
            </a:r>
            <a:endParaRPr lang="en-US" sz="16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9" name="Rectangle 24"/>
          <p:cNvSpPr/>
          <p:nvPr/>
        </p:nvSpPr>
        <p:spPr>
          <a:xfrm>
            <a:off x="3337019" y="3419703"/>
            <a:ext cx="503025" cy="300752"/>
          </a:xfrm>
          <a:custGeom>
            <a:avLst/>
            <a:gdLst>
              <a:gd name="connsiteX0" fmla="*/ 0 w 408483"/>
              <a:gd name="connsiteY0" fmla="*/ 0 h 314484"/>
              <a:gd name="connsiteX1" fmla="*/ 408483 w 408483"/>
              <a:gd name="connsiteY1" fmla="*/ 0 h 314484"/>
              <a:gd name="connsiteX2" fmla="*/ 408483 w 408483"/>
              <a:gd name="connsiteY2" fmla="*/ 314484 h 314484"/>
              <a:gd name="connsiteX3" fmla="*/ 0 w 408483"/>
              <a:gd name="connsiteY3" fmla="*/ 314484 h 314484"/>
              <a:gd name="connsiteX4" fmla="*/ 0 w 408483"/>
              <a:gd name="connsiteY4" fmla="*/ 0 h 314484"/>
              <a:gd name="connsiteX0" fmla="*/ 0 w 408483"/>
              <a:gd name="connsiteY0" fmla="*/ 0 h 314484"/>
              <a:gd name="connsiteX1" fmla="*/ 78283 w 408483"/>
              <a:gd name="connsiteY1" fmla="*/ 63500 h 314484"/>
              <a:gd name="connsiteX2" fmla="*/ 408483 w 408483"/>
              <a:gd name="connsiteY2" fmla="*/ 314484 h 314484"/>
              <a:gd name="connsiteX3" fmla="*/ 0 w 408483"/>
              <a:gd name="connsiteY3" fmla="*/ 314484 h 314484"/>
              <a:gd name="connsiteX4" fmla="*/ 0 w 408483"/>
              <a:gd name="connsiteY4" fmla="*/ 0 h 314484"/>
              <a:gd name="connsiteX0" fmla="*/ 0 w 433883"/>
              <a:gd name="connsiteY0" fmla="*/ 0 h 314484"/>
              <a:gd name="connsiteX1" fmla="*/ 433883 w 433883"/>
              <a:gd name="connsiteY1" fmla="*/ 114300 h 314484"/>
              <a:gd name="connsiteX2" fmla="*/ 408483 w 433883"/>
              <a:gd name="connsiteY2" fmla="*/ 314484 h 314484"/>
              <a:gd name="connsiteX3" fmla="*/ 0 w 433883"/>
              <a:gd name="connsiteY3" fmla="*/ 314484 h 314484"/>
              <a:gd name="connsiteX4" fmla="*/ 0 w 433883"/>
              <a:gd name="connsiteY4" fmla="*/ 0 h 314484"/>
              <a:gd name="connsiteX0" fmla="*/ 12700 w 433883"/>
              <a:gd name="connsiteY0" fmla="*/ 0 h 250984"/>
              <a:gd name="connsiteX1" fmla="*/ 433883 w 433883"/>
              <a:gd name="connsiteY1" fmla="*/ 50800 h 250984"/>
              <a:gd name="connsiteX2" fmla="*/ 408483 w 433883"/>
              <a:gd name="connsiteY2" fmla="*/ 250984 h 250984"/>
              <a:gd name="connsiteX3" fmla="*/ 0 w 433883"/>
              <a:gd name="connsiteY3" fmla="*/ 250984 h 250984"/>
              <a:gd name="connsiteX4" fmla="*/ 12700 w 433883"/>
              <a:gd name="connsiteY4" fmla="*/ 0 h 250984"/>
              <a:gd name="connsiteX0" fmla="*/ 12700 w 433883"/>
              <a:gd name="connsiteY0" fmla="*/ 0 h 250984"/>
              <a:gd name="connsiteX1" fmla="*/ 433883 w 433883"/>
              <a:gd name="connsiteY1" fmla="*/ 50800 h 250984"/>
              <a:gd name="connsiteX2" fmla="*/ 421183 w 433883"/>
              <a:gd name="connsiteY2" fmla="*/ 85884 h 250984"/>
              <a:gd name="connsiteX3" fmla="*/ 0 w 433883"/>
              <a:gd name="connsiteY3" fmla="*/ 250984 h 250984"/>
              <a:gd name="connsiteX4" fmla="*/ 12700 w 433883"/>
              <a:gd name="connsiteY4" fmla="*/ 0 h 250984"/>
              <a:gd name="connsiteX0" fmla="*/ 0 w 421183"/>
              <a:gd name="connsiteY0" fmla="*/ 0 h 200184"/>
              <a:gd name="connsiteX1" fmla="*/ 421183 w 421183"/>
              <a:gd name="connsiteY1" fmla="*/ 50800 h 200184"/>
              <a:gd name="connsiteX2" fmla="*/ 408483 w 421183"/>
              <a:gd name="connsiteY2" fmla="*/ 85884 h 200184"/>
              <a:gd name="connsiteX3" fmla="*/ 12700 w 421183"/>
              <a:gd name="connsiteY3" fmla="*/ 200184 h 200184"/>
              <a:gd name="connsiteX4" fmla="*/ 0 w 421183"/>
              <a:gd name="connsiteY4" fmla="*/ 0 h 200184"/>
              <a:gd name="connsiteX0" fmla="*/ 0 w 421183"/>
              <a:gd name="connsiteY0" fmla="*/ 0 h 200184"/>
              <a:gd name="connsiteX1" fmla="*/ 421183 w 421183"/>
              <a:gd name="connsiteY1" fmla="*/ 50800 h 200184"/>
              <a:gd name="connsiteX2" fmla="*/ 395783 w 421183"/>
              <a:gd name="connsiteY2" fmla="*/ 162084 h 200184"/>
              <a:gd name="connsiteX3" fmla="*/ 12700 w 421183"/>
              <a:gd name="connsiteY3" fmla="*/ 200184 h 200184"/>
              <a:gd name="connsiteX4" fmla="*/ 0 w 421183"/>
              <a:gd name="connsiteY4" fmla="*/ 0 h 200184"/>
              <a:gd name="connsiteX0" fmla="*/ 0 w 471983"/>
              <a:gd name="connsiteY0" fmla="*/ 0 h 200184"/>
              <a:gd name="connsiteX1" fmla="*/ 421183 w 471983"/>
              <a:gd name="connsiteY1" fmla="*/ 50800 h 200184"/>
              <a:gd name="connsiteX2" fmla="*/ 471983 w 471983"/>
              <a:gd name="connsiteY2" fmla="*/ 200184 h 200184"/>
              <a:gd name="connsiteX3" fmla="*/ 12700 w 471983"/>
              <a:gd name="connsiteY3" fmla="*/ 200184 h 200184"/>
              <a:gd name="connsiteX4" fmla="*/ 0 w 471983"/>
              <a:gd name="connsiteY4" fmla="*/ 0 h 200184"/>
              <a:gd name="connsiteX0" fmla="*/ 0 w 487223"/>
              <a:gd name="connsiteY0" fmla="*/ 21590 h 149384"/>
              <a:gd name="connsiteX1" fmla="*/ 436423 w 487223"/>
              <a:gd name="connsiteY1" fmla="*/ 0 h 149384"/>
              <a:gd name="connsiteX2" fmla="*/ 487223 w 487223"/>
              <a:gd name="connsiteY2" fmla="*/ 149384 h 149384"/>
              <a:gd name="connsiteX3" fmla="*/ 27940 w 487223"/>
              <a:gd name="connsiteY3" fmla="*/ 149384 h 149384"/>
              <a:gd name="connsiteX4" fmla="*/ 0 w 487223"/>
              <a:gd name="connsiteY4" fmla="*/ 21590 h 149384"/>
              <a:gd name="connsiteX0" fmla="*/ 0 w 487223"/>
              <a:gd name="connsiteY0" fmla="*/ 21590 h 198914"/>
              <a:gd name="connsiteX1" fmla="*/ 436423 w 487223"/>
              <a:gd name="connsiteY1" fmla="*/ 0 h 198914"/>
              <a:gd name="connsiteX2" fmla="*/ 487223 w 487223"/>
              <a:gd name="connsiteY2" fmla="*/ 149384 h 198914"/>
              <a:gd name="connsiteX3" fmla="*/ 1270 w 487223"/>
              <a:gd name="connsiteY3" fmla="*/ 198914 h 198914"/>
              <a:gd name="connsiteX4" fmla="*/ 0 w 487223"/>
              <a:gd name="connsiteY4" fmla="*/ 21590 h 198914"/>
              <a:gd name="connsiteX0" fmla="*/ 6368 w 485971"/>
              <a:gd name="connsiteY0" fmla="*/ 0 h 219234"/>
              <a:gd name="connsiteX1" fmla="*/ 435171 w 485971"/>
              <a:gd name="connsiteY1" fmla="*/ 20320 h 219234"/>
              <a:gd name="connsiteX2" fmla="*/ 485971 w 485971"/>
              <a:gd name="connsiteY2" fmla="*/ 169704 h 219234"/>
              <a:gd name="connsiteX3" fmla="*/ 18 w 485971"/>
              <a:gd name="connsiteY3" fmla="*/ 219234 h 219234"/>
              <a:gd name="connsiteX4" fmla="*/ 6368 w 485971"/>
              <a:gd name="connsiteY4" fmla="*/ 0 h 219234"/>
              <a:gd name="connsiteX0" fmla="*/ 6368 w 435171"/>
              <a:gd name="connsiteY0" fmla="*/ 0 h 219234"/>
              <a:gd name="connsiteX1" fmla="*/ 435171 w 435171"/>
              <a:gd name="connsiteY1" fmla="*/ 20320 h 219234"/>
              <a:gd name="connsiteX2" fmla="*/ 413581 w 435171"/>
              <a:gd name="connsiteY2" fmla="*/ 169704 h 219234"/>
              <a:gd name="connsiteX3" fmla="*/ 18 w 435171"/>
              <a:gd name="connsiteY3" fmla="*/ 219234 h 219234"/>
              <a:gd name="connsiteX4" fmla="*/ 6368 w 435171"/>
              <a:gd name="connsiteY4" fmla="*/ 0 h 219234"/>
              <a:gd name="connsiteX0" fmla="*/ 6368 w 423741"/>
              <a:gd name="connsiteY0" fmla="*/ 0 h 219234"/>
              <a:gd name="connsiteX1" fmla="*/ 423741 w 423741"/>
              <a:gd name="connsiteY1" fmla="*/ 39370 h 219234"/>
              <a:gd name="connsiteX2" fmla="*/ 413581 w 423741"/>
              <a:gd name="connsiteY2" fmla="*/ 169704 h 219234"/>
              <a:gd name="connsiteX3" fmla="*/ 18 w 423741"/>
              <a:gd name="connsiteY3" fmla="*/ 219234 h 219234"/>
              <a:gd name="connsiteX4" fmla="*/ 6368 w 423741"/>
              <a:gd name="connsiteY4" fmla="*/ 0 h 219234"/>
              <a:gd name="connsiteX0" fmla="*/ 6368 w 423741"/>
              <a:gd name="connsiteY0" fmla="*/ 0 h 219234"/>
              <a:gd name="connsiteX1" fmla="*/ 423741 w 423741"/>
              <a:gd name="connsiteY1" fmla="*/ 39370 h 219234"/>
              <a:gd name="connsiteX2" fmla="*/ 421201 w 423741"/>
              <a:gd name="connsiteY2" fmla="*/ 154464 h 219234"/>
              <a:gd name="connsiteX3" fmla="*/ 18 w 423741"/>
              <a:gd name="connsiteY3" fmla="*/ 219234 h 219234"/>
              <a:gd name="connsiteX4" fmla="*/ 6368 w 423741"/>
              <a:gd name="connsiteY4" fmla="*/ 0 h 219234"/>
              <a:gd name="connsiteX0" fmla="*/ 99 w 417472"/>
              <a:gd name="connsiteY0" fmla="*/ 0 h 219234"/>
              <a:gd name="connsiteX1" fmla="*/ 417472 w 417472"/>
              <a:gd name="connsiteY1" fmla="*/ 39370 h 219234"/>
              <a:gd name="connsiteX2" fmla="*/ 414932 w 417472"/>
              <a:gd name="connsiteY2" fmla="*/ 154464 h 219234"/>
              <a:gd name="connsiteX3" fmla="*/ 126 w 417472"/>
              <a:gd name="connsiteY3" fmla="*/ 219234 h 219234"/>
              <a:gd name="connsiteX4" fmla="*/ 99 w 417472"/>
              <a:gd name="connsiteY4" fmla="*/ 0 h 2192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7472" h="219234">
                <a:moveTo>
                  <a:pt x="99" y="0"/>
                </a:moveTo>
                <a:lnTo>
                  <a:pt x="417472" y="39370"/>
                </a:lnTo>
                <a:cubicBezTo>
                  <a:pt x="416625" y="77735"/>
                  <a:pt x="415779" y="116099"/>
                  <a:pt x="414932" y="154464"/>
                </a:cubicBezTo>
                <a:lnTo>
                  <a:pt x="126" y="219234"/>
                </a:lnTo>
                <a:cubicBezTo>
                  <a:pt x="-297" y="160126"/>
                  <a:pt x="522" y="59108"/>
                  <a:pt x="99" y="0"/>
                </a:cubicBezTo>
                <a:close/>
              </a:path>
            </a:pathLst>
          </a:cu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4"/>
          <p:cNvSpPr/>
          <p:nvPr/>
        </p:nvSpPr>
        <p:spPr>
          <a:xfrm>
            <a:off x="1728908" y="3419703"/>
            <a:ext cx="420473" cy="299444"/>
          </a:xfrm>
          <a:custGeom>
            <a:avLst/>
            <a:gdLst>
              <a:gd name="connsiteX0" fmla="*/ 0 w 408483"/>
              <a:gd name="connsiteY0" fmla="*/ 0 h 314484"/>
              <a:gd name="connsiteX1" fmla="*/ 408483 w 408483"/>
              <a:gd name="connsiteY1" fmla="*/ 0 h 314484"/>
              <a:gd name="connsiteX2" fmla="*/ 408483 w 408483"/>
              <a:gd name="connsiteY2" fmla="*/ 314484 h 314484"/>
              <a:gd name="connsiteX3" fmla="*/ 0 w 408483"/>
              <a:gd name="connsiteY3" fmla="*/ 314484 h 314484"/>
              <a:gd name="connsiteX4" fmla="*/ 0 w 408483"/>
              <a:gd name="connsiteY4" fmla="*/ 0 h 314484"/>
              <a:gd name="connsiteX0" fmla="*/ 0 w 408483"/>
              <a:gd name="connsiteY0" fmla="*/ 0 h 314484"/>
              <a:gd name="connsiteX1" fmla="*/ 78283 w 408483"/>
              <a:gd name="connsiteY1" fmla="*/ 63500 h 314484"/>
              <a:gd name="connsiteX2" fmla="*/ 408483 w 408483"/>
              <a:gd name="connsiteY2" fmla="*/ 314484 h 314484"/>
              <a:gd name="connsiteX3" fmla="*/ 0 w 408483"/>
              <a:gd name="connsiteY3" fmla="*/ 314484 h 314484"/>
              <a:gd name="connsiteX4" fmla="*/ 0 w 408483"/>
              <a:gd name="connsiteY4" fmla="*/ 0 h 314484"/>
              <a:gd name="connsiteX0" fmla="*/ 0 w 433883"/>
              <a:gd name="connsiteY0" fmla="*/ 0 h 314484"/>
              <a:gd name="connsiteX1" fmla="*/ 433883 w 433883"/>
              <a:gd name="connsiteY1" fmla="*/ 114300 h 314484"/>
              <a:gd name="connsiteX2" fmla="*/ 408483 w 433883"/>
              <a:gd name="connsiteY2" fmla="*/ 314484 h 314484"/>
              <a:gd name="connsiteX3" fmla="*/ 0 w 433883"/>
              <a:gd name="connsiteY3" fmla="*/ 314484 h 314484"/>
              <a:gd name="connsiteX4" fmla="*/ 0 w 433883"/>
              <a:gd name="connsiteY4" fmla="*/ 0 h 314484"/>
              <a:gd name="connsiteX0" fmla="*/ 12700 w 433883"/>
              <a:gd name="connsiteY0" fmla="*/ 0 h 250984"/>
              <a:gd name="connsiteX1" fmla="*/ 433883 w 433883"/>
              <a:gd name="connsiteY1" fmla="*/ 50800 h 250984"/>
              <a:gd name="connsiteX2" fmla="*/ 408483 w 433883"/>
              <a:gd name="connsiteY2" fmla="*/ 250984 h 250984"/>
              <a:gd name="connsiteX3" fmla="*/ 0 w 433883"/>
              <a:gd name="connsiteY3" fmla="*/ 250984 h 250984"/>
              <a:gd name="connsiteX4" fmla="*/ 12700 w 433883"/>
              <a:gd name="connsiteY4" fmla="*/ 0 h 250984"/>
              <a:gd name="connsiteX0" fmla="*/ 12700 w 433883"/>
              <a:gd name="connsiteY0" fmla="*/ 0 h 250984"/>
              <a:gd name="connsiteX1" fmla="*/ 433883 w 433883"/>
              <a:gd name="connsiteY1" fmla="*/ 50800 h 250984"/>
              <a:gd name="connsiteX2" fmla="*/ 421183 w 433883"/>
              <a:gd name="connsiteY2" fmla="*/ 85884 h 250984"/>
              <a:gd name="connsiteX3" fmla="*/ 0 w 433883"/>
              <a:gd name="connsiteY3" fmla="*/ 250984 h 250984"/>
              <a:gd name="connsiteX4" fmla="*/ 12700 w 433883"/>
              <a:gd name="connsiteY4" fmla="*/ 0 h 250984"/>
              <a:gd name="connsiteX0" fmla="*/ 0 w 421183"/>
              <a:gd name="connsiteY0" fmla="*/ 0 h 200184"/>
              <a:gd name="connsiteX1" fmla="*/ 421183 w 421183"/>
              <a:gd name="connsiteY1" fmla="*/ 50800 h 200184"/>
              <a:gd name="connsiteX2" fmla="*/ 408483 w 421183"/>
              <a:gd name="connsiteY2" fmla="*/ 85884 h 200184"/>
              <a:gd name="connsiteX3" fmla="*/ 12700 w 421183"/>
              <a:gd name="connsiteY3" fmla="*/ 200184 h 200184"/>
              <a:gd name="connsiteX4" fmla="*/ 0 w 421183"/>
              <a:gd name="connsiteY4" fmla="*/ 0 h 200184"/>
              <a:gd name="connsiteX0" fmla="*/ 0 w 421183"/>
              <a:gd name="connsiteY0" fmla="*/ 0 h 200184"/>
              <a:gd name="connsiteX1" fmla="*/ 421183 w 421183"/>
              <a:gd name="connsiteY1" fmla="*/ 50800 h 200184"/>
              <a:gd name="connsiteX2" fmla="*/ 395783 w 421183"/>
              <a:gd name="connsiteY2" fmla="*/ 162084 h 200184"/>
              <a:gd name="connsiteX3" fmla="*/ 12700 w 421183"/>
              <a:gd name="connsiteY3" fmla="*/ 200184 h 200184"/>
              <a:gd name="connsiteX4" fmla="*/ 0 w 421183"/>
              <a:gd name="connsiteY4" fmla="*/ 0 h 200184"/>
              <a:gd name="connsiteX0" fmla="*/ 0 w 471983"/>
              <a:gd name="connsiteY0" fmla="*/ 0 h 200184"/>
              <a:gd name="connsiteX1" fmla="*/ 421183 w 471983"/>
              <a:gd name="connsiteY1" fmla="*/ 50800 h 200184"/>
              <a:gd name="connsiteX2" fmla="*/ 471983 w 471983"/>
              <a:gd name="connsiteY2" fmla="*/ 200184 h 200184"/>
              <a:gd name="connsiteX3" fmla="*/ 12700 w 471983"/>
              <a:gd name="connsiteY3" fmla="*/ 200184 h 200184"/>
              <a:gd name="connsiteX4" fmla="*/ 0 w 471983"/>
              <a:gd name="connsiteY4" fmla="*/ 0 h 200184"/>
              <a:gd name="connsiteX0" fmla="*/ 0 w 487223"/>
              <a:gd name="connsiteY0" fmla="*/ 21590 h 149384"/>
              <a:gd name="connsiteX1" fmla="*/ 436423 w 487223"/>
              <a:gd name="connsiteY1" fmla="*/ 0 h 149384"/>
              <a:gd name="connsiteX2" fmla="*/ 487223 w 487223"/>
              <a:gd name="connsiteY2" fmla="*/ 149384 h 149384"/>
              <a:gd name="connsiteX3" fmla="*/ 27940 w 487223"/>
              <a:gd name="connsiteY3" fmla="*/ 149384 h 149384"/>
              <a:gd name="connsiteX4" fmla="*/ 0 w 487223"/>
              <a:gd name="connsiteY4" fmla="*/ 21590 h 149384"/>
              <a:gd name="connsiteX0" fmla="*/ 0 w 487223"/>
              <a:gd name="connsiteY0" fmla="*/ 21590 h 198914"/>
              <a:gd name="connsiteX1" fmla="*/ 436423 w 487223"/>
              <a:gd name="connsiteY1" fmla="*/ 0 h 198914"/>
              <a:gd name="connsiteX2" fmla="*/ 487223 w 487223"/>
              <a:gd name="connsiteY2" fmla="*/ 149384 h 198914"/>
              <a:gd name="connsiteX3" fmla="*/ 1270 w 487223"/>
              <a:gd name="connsiteY3" fmla="*/ 198914 h 198914"/>
              <a:gd name="connsiteX4" fmla="*/ 0 w 487223"/>
              <a:gd name="connsiteY4" fmla="*/ 21590 h 198914"/>
              <a:gd name="connsiteX0" fmla="*/ 6368 w 485971"/>
              <a:gd name="connsiteY0" fmla="*/ 0 h 219234"/>
              <a:gd name="connsiteX1" fmla="*/ 435171 w 485971"/>
              <a:gd name="connsiteY1" fmla="*/ 20320 h 219234"/>
              <a:gd name="connsiteX2" fmla="*/ 485971 w 485971"/>
              <a:gd name="connsiteY2" fmla="*/ 169704 h 219234"/>
              <a:gd name="connsiteX3" fmla="*/ 18 w 485971"/>
              <a:gd name="connsiteY3" fmla="*/ 219234 h 219234"/>
              <a:gd name="connsiteX4" fmla="*/ 6368 w 485971"/>
              <a:gd name="connsiteY4" fmla="*/ 0 h 219234"/>
              <a:gd name="connsiteX0" fmla="*/ 6368 w 435171"/>
              <a:gd name="connsiteY0" fmla="*/ 0 h 219234"/>
              <a:gd name="connsiteX1" fmla="*/ 435171 w 435171"/>
              <a:gd name="connsiteY1" fmla="*/ 20320 h 219234"/>
              <a:gd name="connsiteX2" fmla="*/ 413581 w 435171"/>
              <a:gd name="connsiteY2" fmla="*/ 169704 h 219234"/>
              <a:gd name="connsiteX3" fmla="*/ 18 w 435171"/>
              <a:gd name="connsiteY3" fmla="*/ 219234 h 219234"/>
              <a:gd name="connsiteX4" fmla="*/ 6368 w 435171"/>
              <a:gd name="connsiteY4" fmla="*/ 0 h 219234"/>
              <a:gd name="connsiteX0" fmla="*/ 6368 w 423741"/>
              <a:gd name="connsiteY0" fmla="*/ 0 h 219234"/>
              <a:gd name="connsiteX1" fmla="*/ 423741 w 423741"/>
              <a:gd name="connsiteY1" fmla="*/ 39370 h 219234"/>
              <a:gd name="connsiteX2" fmla="*/ 413581 w 423741"/>
              <a:gd name="connsiteY2" fmla="*/ 169704 h 219234"/>
              <a:gd name="connsiteX3" fmla="*/ 18 w 423741"/>
              <a:gd name="connsiteY3" fmla="*/ 219234 h 219234"/>
              <a:gd name="connsiteX4" fmla="*/ 6368 w 423741"/>
              <a:gd name="connsiteY4" fmla="*/ 0 h 219234"/>
              <a:gd name="connsiteX0" fmla="*/ 6368 w 423741"/>
              <a:gd name="connsiteY0" fmla="*/ 0 h 219234"/>
              <a:gd name="connsiteX1" fmla="*/ 423741 w 423741"/>
              <a:gd name="connsiteY1" fmla="*/ 39370 h 219234"/>
              <a:gd name="connsiteX2" fmla="*/ 421201 w 423741"/>
              <a:gd name="connsiteY2" fmla="*/ 154464 h 219234"/>
              <a:gd name="connsiteX3" fmla="*/ 18 w 423741"/>
              <a:gd name="connsiteY3" fmla="*/ 219234 h 219234"/>
              <a:gd name="connsiteX4" fmla="*/ 6368 w 423741"/>
              <a:gd name="connsiteY4" fmla="*/ 0 h 219234"/>
              <a:gd name="connsiteX0" fmla="*/ 99 w 417472"/>
              <a:gd name="connsiteY0" fmla="*/ 0 h 219234"/>
              <a:gd name="connsiteX1" fmla="*/ 417472 w 417472"/>
              <a:gd name="connsiteY1" fmla="*/ 39370 h 219234"/>
              <a:gd name="connsiteX2" fmla="*/ 414932 w 417472"/>
              <a:gd name="connsiteY2" fmla="*/ 154464 h 219234"/>
              <a:gd name="connsiteX3" fmla="*/ 126 w 417472"/>
              <a:gd name="connsiteY3" fmla="*/ 219234 h 219234"/>
              <a:gd name="connsiteX4" fmla="*/ 99 w 417472"/>
              <a:gd name="connsiteY4" fmla="*/ 0 h 2192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7472" h="219234">
                <a:moveTo>
                  <a:pt x="99" y="0"/>
                </a:moveTo>
                <a:lnTo>
                  <a:pt x="417472" y="39370"/>
                </a:lnTo>
                <a:cubicBezTo>
                  <a:pt x="416625" y="77735"/>
                  <a:pt x="415779" y="116099"/>
                  <a:pt x="414932" y="154464"/>
                </a:cubicBezTo>
                <a:lnTo>
                  <a:pt x="126" y="219234"/>
                </a:lnTo>
                <a:cubicBezTo>
                  <a:pt x="-297" y="160126"/>
                  <a:pt x="522" y="59108"/>
                  <a:pt x="99" y="0"/>
                </a:cubicBezTo>
                <a:close/>
              </a:path>
            </a:pathLst>
          </a:cu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" name="Straight Arrow Connector 27"/>
          <p:cNvCxnSpPr/>
          <p:nvPr/>
        </p:nvCxnSpPr>
        <p:spPr>
          <a:xfrm>
            <a:off x="1728908" y="3546303"/>
            <a:ext cx="42374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>
            <a:off x="3337019" y="3546303"/>
            <a:ext cx="50302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36" name="Image 0" descr="preencoded.png"/>
          <p:cNvPicPr>
            <a:picLocks noChangeAspect="1"/>
          </p:cNvPicPr>
          <p:nvPr/>
        </p:nvPicPr>
        <p:blipFill rotWithShape="1">
          <a:blip r:embed="rId3"/>
          <a:srcRect l="3186" t="82462" r="89801"/>
          <a:stretch/>
        </p:blipFill>
        <p:spPr>
          <a:xfrm>
            <a:off x="3360219" y="3008926"/>
            <a:ext cx="483094" cy="1220531"/>
          </a:xfrm>
          <a:prstGeom prst="rect">
            <a:avLst/>
          </a:prstGeom>
        </p:spPr>
      </p:pic>
      <p:pic>
        <p:nvPicPr>
          <p:cNvPr id="39" name="Image 0" descr="preencoded.png"/>
          <p:cNvPicPr>
            <a:picLocks noChangeAspect="1"/>
          </p:cNvPicPr>
          <p:nvPr/>
        </p:nvPicPr>
        <p:blipFill rotWithShape="1">
          <a:blip r:embed="rId3"/>
          <a:srcRect l="3186" t="82462" r="89801"/>
          <a:stretch/>
        </p:blipFill>
        <p:spPr>
          <a:xfrm>
            <a:off x="1750400" y="2794661"/>
            <a:ext cx="402248" cy="1028687"/>
          </a:xfrm>
          <a:prstGeom prst="rect">
            <a:avLst/>
          </a:prstGeom>
        </p:spPr>
      </p:pic>
      <p:cxnSp>
        <p:nvCxnSpPr>
          <p:cNvPr id="41" name="Straight Arrow Connector 40"/>
          <p:cNvCxnSpPr/>
          <p:nvPr/>
        </p:nvCxnSpPr>
        <p:spPr>
          <a:xfrm>
            <a:off x="1728908" y="3546303"/>
            <a:ext cx="42047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>
            <a:off x="3333750" y="3546303"/>
            <a:ext cx="50956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3425" y="576263"/>
            <a:ext cx="5326618" cy="523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3300" b="1" dirty="0">
                <a:solidFill>
                  <a:schemeClr val="bg1"/>
                </a:solidFill>
                <a:latin typeface="Inter Bold"/>
                <a:ea typeface="Gelasio" pitchFamily="34" charset="-122"/>
                <a:cs typeface="Gelasio" pitchFamily="34" charset="-120"/>
              </a:rPr>
              <a:t>Important Parts of the Game</a:t>
            </a:r>
            <a:endParaRPr lang="en-US" sz="3300" b="1" dirty="0">
              <a:solidFill>
                <a:schemeClr val="bg1"/>
              </a:solidFill>
              <a:latin typeface="Inter Bold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33425" y="1761530"/>
            <a:ext cx="104775" cy="104775"/>
          </a:xfrm>
          <a:prstGeom prst="roundRect">
            <a:avLst>
              <a:gd name="adj" fmla="val 436364"/>
            </a:avLst>
          </a:prstGeom>
          <a:solidFill>
            <a:srgbClr val="C49F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47750" y="1650206"/>
            <a:ext cx="2619375" cy="327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400" b="1" dirty="0">
                <a:solidFill>
                  <a:schemeClr val="bg1"/>
                </a:solidFill>
                <a:latin typeface="Inter Bold"/>
                <a:ea typeface="Gelasio" pitchFamily="34" charset="-122"/>
                <a:cs typeface="Gelasio" pitchFamily="34" charset="-120"/>
              </a:rPr>
              <a:t>Many Words</a:t>
            </a:r>
            <a:endParaRPr lang="en-US" sz="2400" b="1" dirty="0">
              <a:solidFill>
                <a:schemeClr val="bg1"/>
              </a:solidFill>
              <a:latin typeface="Inter Bold"/>
            </a:endParaRPr>
          </a:p>
        </p:txBody>
      </p:sp>
      <p:sp>
        <p:nvSpPr>
          <p:cNvPr id="5" name="Text 3"/>
          <p:cNvSpPr/>
          <p:nvPr/>
        </p:nvSpPr>
        <p:spPr>
          <a:xfrm>
            <a:off x="1047750" y="2112228"/>
            <a:ext cx="6011823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b="1" dirty="0">
                <a:solidFill>
                  <a:schemeClr val="bg1">
                    <a:lumMod val="85000"/>
                  </a:schemeClr>
                </a:solidFill>
                <a:latin typeface="Inter Bold"/>
                <a:ea typeface="Gelasio" pitchFamily="34" charset="-122"/>
                <a:cs typeface="Gelasio" pitchFamily="34" charset="-120"/>
              </a:rPr>
              <a:t>Lots of words to guess from.</a:t>
            </a:r>
            <a:endParaRPr lang="en-US" b="1" dirty="0">
              <a:solidFill>
                <a:schemeClr val="bg1">
                  <a:lumMod val="85000"/>
                </a:schemeClr>
              </a:solidFill>
              <a:latin typeface="Inter Bold"/>
            </a:endParaRPr>
          </a:p>
        </p:txBody>
      </p:sp>
      <p:sp>
        <p:nvSpPr>
          <p:cNvPr id="6" name="Shape 4"/>
          <p:cNvSpPr/>
          <p:nvPr/>
        </p:nvSpPr>
        <p:spPr>
          <a:xfrm>
            <a:off x="733425" y="3052882"/>
            <a:ext cx="104775" cy="104775"/>
          </a:xfrm>
          <a:prstGeom prst="roundRect">
            <a:avLst>
              <a:gd name="adj" fmla="val 436364"/>
            </a:avLst>
          </a:prstGeom>
          <a:solidFill>
            <a:srgbClr val="C49F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47750" y="2941558"/>
            <a:ext cx="2658785" cy="327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550"/>
              </a:lnSpc>
              <a:buNone/>
            </a:pPr>
            <a:r>
              <a:rPr lang="en-US" sz="2400" b="1" dirty="0">
                <a:solidFill>
                  <a:schemeClr val="bg1"/>
                </a:solidFill>
                <a:latin typeface="Inter Bold" panose="02000503000000020004" pitchFamily="2" charset="0"/>
                <a:ea typeface="Inter Bold" panose="02000503000000020004" pitchFamily="2" charset="0"/>
                <a:cs typeface="Gelasio" pitchFamily="34" charset="-120"/>
              </a:rPr>
              <a:t>Checks What You Type</a:t>
            </a:r>
            <a:endParaRPr lang="en-US" sz="2400" b="1" dirty="0">
              <a:solidFill>
                <a:schemeClr val="bg1"/>
              </a:solidFill>
              <a:latin typeface="Inter Bold" panose="02000503000000020004" pitchFamily="2" charset="0"/>
              <a:ea typeface="Inter Bold" panose="02000503000000020004" pitchFamily="2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47750" y="3403580"/>
            <a:ext cx="6011823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b="1" dirty="0">
                <a:solidFill>
                  <a:schemeClr val="bg1">
                    <a:lumMod val="85000"/>
                  </a:schemeClr>
                </a:solidFill>
                <a:latin typeface="Inter Bold" panose="02000503000000020004" pitchFamily="2" charset="0"/>
                <a:ea typeface="Inter Bold" panose="02000503000000020004" pitchFamily="2" charset="0"/>
                <a:cs typeface="Gelasio" pitchFamily="34" charset="-120"/>
              </a:rPr>
              <a:t>Makes sure you type real letters.</a:t>
            </a:r>
            <a:endParaRPr lang="en-US" b="1" dirty="0">
              <a:solidFill>
                <a:schemeClr val="bg1">
                  <a:lumMod val="85000"/>
                </a:schemeClr>
              </a:solidFill>
              <a:latin typeface="Inter Bold" panose="02000503000000020004" pitchFamily="2" charset="0"/>
              <a:ea typeface="Inter Bold" panose="02000503000000020004" pitchFamily="2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33425" y="4344233"/>
            <a:ext cx="104775" cy="104775"/>
          </a:xfrm>
          <a:prstGeom prst="roundRect">
            <a:avLst>
              <a:gd name="adj" fmla="val 436364"/>
            </a:avLst>
          </a:prstGeom>
          <a:solidFill>
            <a:srgbClr val="C49F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47750" y="4232910"/>
            <a:ext cx="2619375" cy="327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400" b="1" dirty="0">
                <a:solidFill>
                  <a:schemeClr val="bg1"/>
                </a:solidFill>
                <a:latin typeface="Inter Bold" panose="02000503000000020004" pitchFamily="2" charset="0"/>
                <a:ea typeface="Inter Bold" panose="02000503000000020004" pitchFamily="2" charset="0"/>
                <a:cs typeface="Gelasio" pitchFamily="34" charset="-120"/>
              </a:rPr>
              <a:t>Hangman Pictures</a:t>
            </a:r>
            <a:endParaRPr lang="en-US" sz="2400" b="1" dirty="0">
              <a:solidFill>
                <a:schemeClr val="bg1"/>
              </a:solidFill>
              <a:latin typeface="Inter Bold" panose="02000503000000020004" pitchFamily="2" charset="0"/>
              <a:ea typeface="Inter Bold" panose="02000503000000020004" pitchFamily="2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047750" y="4694932"/>
            <a:ext cx="6011823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b="1" dirty="0">
                <a:solidFill>
                  <a:schemeClr val="bg1">
                    <a:lumMod val="85000"/>
                  </a:schemeClr>
                </a:solidFill>
                <a:latin typeface="Inter Bold" panose="02000503000000020004" pitchFamily="2" charset="0"/>
                <a:ea typeface="Inter Bold" panose="02000503000000020004" pitchFamily="2" charset="0"/>
                <a:cs typeface="Gelasio" pitchFamily="34" charset="-120"/>
              </a:rPr>
              <a:t>See the hangman grow as you play.</a:t>
            </a:r>
            <a:endParaRPr lang="en-US" sz="1650" b="1" dirty="0">
              <a:solidFill>
                <a:schemeClr val="bg1">
                  <a:lumMod val="85000"/>
                </a:schemeClr>
              </a:solidFill>
              <a:latin typeface="Inter Bold" panose="02000503000000020004" pitchFamily="2" charset="0"/>
              <a:ea typeface="Inter Bold" panose="02000503000000020004" pitchFamily="2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33425" y="5635585"/>
            <a:ext cx="104775" cy="104775"/>
          </a:xfrm>
          <a:prstGeom prst="roundRect">
            <a:avLst>
              <a:gd name="adj" fmla="val 436364"/>
            </a:avLst>
          </a:prstGeom>
          <a:solidFill>
            <a:srgbClr val="C49F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47750" y="5524262"/>
            <a:ext cx="2619375" cy="327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400" b="1" dirty="0" smtClean="0">
                <a:solidFill>
                  <a:schemeClr val="bg1"/>
                </a:solidFill>
                <a:latin typeface="Inter Bold" panose="02000503000000020004" pitchFamily="2" charset="0"/>
                <a:ea typeface="Inter Bold" panose="02000503000000020004" pitchFamily="2" charset="0"/>
                <a:cs typeface="Gelasio" pitchFamily="34" charset="-120"/>
              </a:rPr>
              <a:t>Remembers</a:t>
            </a:r>
            <a:r>
              <a:rPr lang="en-US" sz="2400" b="1" dirty="0" smtClean="0">
                <a:solidFill>
                  <a:schemeClr val="bg1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</a:t>
            </a:r>
            <a:r>
              <a:rPr lang="en-US" sz="2400" b="1" dirty="0">
                <a:solidFill>
                  <a:schemeClr val="bg1"/>
                </a:solidFill>
                <a:latin typeface="Inter Bold" panose="02000503000000020004" pitchFamily="2" charset="0"/>
                <a:ea typeface="Inter Bold" panose="02000503000000020004" pitchFamily="2" charset="0"/>
                <a:cs typeface="Gelasio" pitchFamily="34" charset="-120"/>
              </a:rPr>
              <a:t>Letters</a:t>
            </a:r>
            <a:endParaRPr lang="en-US" sz="2400" b="1" dirty="0">
              <a:solidFill>
                <a:schemeClr val="bg1"/>
              </a:solidFill>
              <a:latin typeface="Inter Bold" panose="02000503000000020004" pitchFamily="2" charset="0"/>
              <a:ea typeface="Inter Bold" panose="02000503000000020004" pitchFamily="2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047750" y="5986284"/>
            <a:ext cx="6011823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b="1" dirty="0">
                <a:solidFill>
                  <a:schemeClr val="bg1">
                    <a:lumMod val="85000"/>
                  </a:schemeClr>
                </a:solidFill>
                <a:latin typeface="Inter Bold" panose="02000503000000020004" pitchFamily="2" charset="0"/>
                <a:ea typeface="Inter Bold" panose="02000503000000020004" pitchFamily="2" charset="0"/>
                <a:cs typeface="Gelasio" pitchFamily="34" charset="-120"/>
              </a:rPr>
              <a:t>Keeps track of letters you already guessed.</a:t>
            </a:r>
            <a:endParaRPr lang="en-US" b="1" dirty="0">
              <a:solidFill>
                <a:schemeClr val="bg1">
                  <a:lumMod val="85000"/>
                </a:schemeClr>
              </a:solidFill>
              <a:latin typeface="Inter Bold" panose="02000503000000020004" pitchFamily="2" charset="0"/>
              <a:ea typeface="Inter Bold" panose="02000503000000020004" pitchFamily="2" charset="0"/>
            </a:endParaRPr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4897" y="1819782"/>
            <a:ext cx="6326148" cy="632614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54605" y="7789506"/>
            <a:ext cx="77844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Group-3 | Members: Intisar </a:t>
            </a:r>
            <a:r>
              <a:rPr lang="en-US" sz="1600" dirty="0" err="1">
                <a:solidFill>
                  <a:schemeClr val="bg1">
                    <a:lumMod val="65000"/>
                  </a:schemeClr>
                </a:solidFill>
              </a:rPr>
              <a:t>Binthay</a:t>
            </a: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bg1">
                    <a:lumMod val="65000"/>
                  </a:schemeClr>
                </a:solidFill>
              </a:rPr>
              <a:t>Fauzul</a:t>
            </a: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, </a:t>
            </a:r>
            <a:r>
              <a:rPr lang="en-US" sz="1600" dirty="0" err="1">
                <a:solidFill>
                  <a:schemeClr val="bg1">
                    <a:lumMod val="65000"/>
                  </a:schemeClr>
                </a:solidFill>
              </a:rPr>
              <a:t>Ashfaqul</a:t>
            </a: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bg1">
                    <a:lumMod val="65000"/>
                  </a:schemeClr>
                </a:solidFill>
              </a:rPr>
              <a:t>Alam</a:t>
            </a: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, Syed Sadat Hasan, </a:t>
            </a:r>
            <a:r>
              <a:rPr lang="en-US" sz="1600" dirty="0" err="1">
                <a:solidFill>
                  <a:schemeClr val="bg1">
                    <a:lumMod val="65000"/>
                  </a:schemeClr>
                </a:solidFill>
              </a:rPr>
              <a:t>Rafiha</a:t>
            </a: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bg1">
                    <a:lumMod val="65000"/>
                  </a:schemeClr>
                </a:solidFill>
              </a:rPr>
              <a:t>Saleha</a:t>
            </a:r>
            <a:endParaRPr lang="en-US" sz="16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95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08978" y="489109"/>
            <a:ext cx="7898844" cy="1111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350"/>
              </a:lnSpc>
              <a:buNone/>
            </a:pPr>
            <a:r>
              <a:rPr lang="en-US" sz="3500" b="1" dirty="0" smtClean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 </a:t>
            </a:r>
            <a:r>
              <a:rPr lang="en-US" sz="35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Journey into Practical Programming</a:t>
            </a:r>
            <a:endParaRPr lang="en-US" sz="3500" dirty="0"/>
          </a:p>
        </p:txBody>
      </p:sp>
      <p:sp>
        <p:nvSpPr>
          <p:cNvPr id="4" name="Text 1"/>
          <p:cNvSpPr/>
          <p:nvPr/>
        </p:nvSpPr>
        <p:spPr>
          <a:xfrm>
            <a:off x="6108978" y="1619012"/>
            <a:ext cx="7898844" cy="8536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dirty="0" smtClean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goal: </a:t>
            </a: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construct a console-based Hangman game in C. This isn't just about building a </a:t>
            </a:r>
            <a:r>
              <a:rPr lang="en-US" sz="1600" dirty="0" smtClean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game, it's an educational pathway to a better understanding of programming concepts </a:t>
            </a: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 </a:t>
            </a:r>
            <a:r>
              <a:rPr lang="en-US" sz="1600" dirty="0" smtClean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modular </a:t>
            </a: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software design.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108978" y="2921198"/>
            <a:ext cx="3860483" cy="2605445"/>
          </a:xfrm>
          <a:prstGeom prst="roundRect">
            <a:avLst>
              <a:gd name="adj" fmla="val 2868"/>
            </a:avLst>
          </a:prstGeom>
          <a:solidFill>
            <a:srgbClr val="DADBF1"/>
          </a:solidFill>
          <a:ln w="7620">
            <a:solidFill>
              <a:srgbClr val="F1E9D2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294477" y="3106698"/>
            <a:ext cx="533638" cy="533638"/>
          </a:xfrm>
          <a:prstGeom prst="roundRect">
            <a:avLst>
              <a:gd name="adj" fmla="val 17133498"/>
            </a:avLst>
          </a:prstGeom>
          <a:solidFill>
            <a:srgbClr val="F1E9D2"/>
          </a:solidFill>
          <a:ln/>
        </p:spPr>
      </p:sp>
      <p:sp>
        <p:nvSpPr>
          <p:cNvPr id="8" name="Text 4"/>
          <p:cNvSpPr/>
          <p:nvPr/>
        </p:nvSpPr>
        <p:spPr>
          <a:xfrm>
            <a:off x="6294477" y="3818215"/>
            <a:ext cx="2223611" cy="2780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Educates</a:t>
            </a:r>
            <a:endParaRPr lang="en-US" sz="1750" dirty="0"/>
          </a:p>
        </p:txBody>
      </p:sp>
      <p:sp>
        <p:nvSpPr>
          <p:cNvPr id="9" name="Text 5"/>
          <p:cNvSpPr/>
          <p:nvPr/>
        </p:nvSpPr>
        <p:spPr>
          <a:xfrm>
            <a:off x="6294477" y="4202906"/>
            <a:ext cx="3489484" cy="8536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Teaches fundamental C programming concepts: strings, arrays, file </a:t>
            </a:r>
            <a:r>
              <a:rPr lang="en-US" sz="1600" dirty="0" smtClean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I/O </a:t>
            </a: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 crucial memory management techniques.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10147340" y="2921198"/>
            <a:ext cx="3860483" cy="2605445"/>
          </a:xfrm>
          <a:prstGeom prst="roundRect">
            <a:avLst>
              <a:gd name="adj" fmla="val 2868"/>
            </a:avLst>
          </a:prstGeom>
          <a:solidFill>
            <a:srgbClr val="DADBF1"/>
          </a:solidFill>
          <a:ln w="7620">
            <a:solidFill>
              <a:srgbClr val="F1E9D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0332839" y="3106698"/>
            <a:ext cx="533638" cy="533638"/>
          </a:xfrm>
          <a:prstGeom prst="roundRect">
            <a:avLst>
              <a:gd name="adj" fmla="val 17133498"/>
            </a:avLst>
          </a:prstGeom>
          <a:solidFill>
            <a:srgbClr val="F1E9D2"/>
          </a:solidFill>
          <a:ln/>
        </p:spPr>
      </p:sp>
      <p:sp>
        <p:nvSpPr>
          <p:cNvPr id="13" name="Text 8"/>
          <p:cNvSpPr/>
          <p:nvPr/>
        </p:nvSpPr>
        <p:spPr>
          <a:xfrm>
            <a:off x="10332839" y="3818215"/>
            <a:ext cx="2223611" cy="2780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Engages</a:t>
            </a:r>
            <a:endParaRPr lang="en-US" sz="1750" dirty="0"/>
          </a:p>
        </p:txBody>
      </p:sp>
      <p:sp>
        <p:nvSpPr>
          <p:cNvPr id="14" name="Text 9"/>
          <p:cNvSpPr/>
          <p:nvPr/>
        </p:nvSpPr>
        <p:spPr>
          <a:xfrm>
            <a:off x="10332839" y="4202906"/>
            <a:ext cx="3489484" cy="1138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Provides interactive gameplay with dynamic scoring, </a:t>
            </a:r>
            <a:r>
              <a:rPr lang="en-US" sz="1600" dirty="0" smtClean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score </a:t>
            </a:r>
            <a:r>
              <a:rPr lang="en-US" sz="1600" dirty="0" smtClean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tracking </a:t>
            </a: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 built-in replayability for sustained fun.</a:t>
            </a:r>
            <a:endParaRPr lang="en-US" sz="1600" dirty="0"/>
          </a:p>
        </p:txBody>
      </p:sp>
      <p:sp>
        <p:nvSpPr>
          <p:cNvPr id="15" name="Shape 10"/>
          <p:cNvSpPr/>
          <p:nvPr/>
        </p:nvSpPr>
        <p:spPr>
          <a:xfrm>
            <a:off x="6108978" y="5704523"/>
            <a:ext cx="7898844" cy="2036326"/>
          </a:xfrm>
          <a:prstGeom prst="roundRect">
            <a:avLst>
              <a:gd name="adj" fmla="val 3669"/>
            </a:avLst>
          </a:prstGeom>
          <a:solidFill>
            <a:srgbClr val="DADBF1"/>
          </a:solidFill>
          <a:ln w="7620">
            <a:solidFill>
              <a:srgbClr val="F1E9D2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6294477" y="5890022"/>
            <a:ext cx="533638" cy="533638"/>
          </a:xfrm>
          <a:prstGeom prst="roundRect">
            <a:avLst>
              <a:gd name="adj" fmla="val 17133498"/>
            </a:avLst>
          </a:prstGeom>
          <a:solidFill>
            <a:srgbClr val="F1E9D2"/>
          </a:solidFill>
          <a:ln/>
        </p:spPr>
      </p:sp>
      <p:sp>
        <p:nvSpPr>
          <p:cNvPr id="18" name="Text 12"/>
          <p:cNvSpPr/>
          <p:nvPr/>
        </p:nvSpPr>
        <p:spPr>
          <a:xfrm>
            <a:off x="6294477" y="6601539"/>
            <a:ext cx="2223611" cy="2780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Demonstrates</a:t>
            </a:r>
            <a:endParaRPr lang="en-US" sz="1750" dirty="0"/>
          </a:p>
        </p:txBody>
      </p:sp>
      <p:sp>
        <p:nvSpPr>
          <p:cNvPr id="19" name="Text 13"/>
          <p:cNvSpPr/>
          <p:nvPr/>
        </p:nvSpPr>
        <p:spPr>
          <a:xfrm>
            <a:off x="6294477" y="6986230"/>
            <a:ext cx="7527846" cy="5691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Implements modular software design with clear separation of logic for game mechanics, player </a:t>
            </a:r>
            <a:r>
              <a:rPr lang="en-US" sz="1600" dirty="0" smtClean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</a:t>
            </a: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 handling data.</a:t>
            </a:r>
            <a:endParaRPr lang="en-US" sz="1600" dirty="0"/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1271" y="3216097"/>
            <a:ext cx="400050" cy="342900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1271" y="6028819"/>
            <a:ext cx="400050" cy="304800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28208" y="3216097"/>
            <a:ext cx="342900" cy="304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406282" y="7847529"/>
            <a:ext cx="77844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Group-3 | Members: Intisar </a:t>
            </a:r>
            <a:r>
              <a:rPr lang="en-US" sz="1400" dirty="0" err="1">
                <a:solidFill>
                  <a:schemeClr val="bg1">
                    <a:lumMod val="65000"/>
                  </a:schemeClr>
                </a:solidFill>
              </a:rPr>
              <a:t>Binthay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bg1">
                    <a:lumMod val="65000"/>
                  </a:schemeClr>
                </a:solidFill>
              </a:rPr>
              <a:t>Fauzul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, </a:t>
            </a:r>
            <a:r>
              <a:rPr lang="en-US" sz="1400" dirty="0" err="1">
                <a:solidFill>
                  <a:schemeClr val="bg1">
                    <a:lumMod val="65000"/>
                  </a:schemeClr>
                </a:solidFill>
              </a:rPr>
              <a:t>Ashfaqul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bg1">
                    <a:lumMod val="65000"/>
                  </a:schemeClr>
                </a:solidFill>
              </a:rPr>
              <a:t>Alam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, Syed Sadat Hasan, </a:t>
            </a:r>
            <a:r>
              <a:rPr lang="en-US" sz="1400" dirty="0" err="1">
                <a:solidFill>
                  <a:schemeClr val="bg1">
                    <a:lumMod val="65000"/>
                  </a:schemeClr>
                </a:solidFill>
              </a:rPr>
              <a:t>Rafiha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bg1">
                    <a:lumMod val="65000"/>
                  </a:schemeClr>
                </a:solidFill>
              </a:rPr>
              <a:t>Saleha</a:t>
            </a:r>
            <a:endParaRPr lang="en-US" sz="14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9885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9572" y="604718"/>
            <a:ext cx="7917656" cy="10948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Modular Design: The Heart of Our Hangman Architecture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6099572" y="1917418"/>
            <a:ext cx="7917656" cy="840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embraced a modular approach, structuring the project into distinct, manageable components. This design principle ensures </a:t>
            </a:r>
            <a:r>
              <a:rPr lang="en-US" dirty="0" smtClean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easier collaboration.</a:t>
            </a:r>
            <a:endParaRPr lang="en-US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9572" y="3074849"/>
            <a:ext cx="875943" cy="1289209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150656" y="3249990"/>
            <a:ext cx="2189798" cy="273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game.c</a:t>
            </a:r>
            <a:endParaRPr lang="en-US" sz="1700" dirty="0"/>
          </a:p>
        </p:txBody>
      </p:sp>
      <p:sp>
        <p:nvSpPr>
          <p:cNvPr id="7" name="Text 3"/>
          <p:cNvSpPr/>
          <p:nvPr/>
        </p:nvSpPr>
        <p:spPr>
          <a:xfrm>
            <a:off x="7150656" y="3628608"/>
            <a:ext cx="6866573" cy="560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00" dirty="0" smtClean="0">
                <a:solidFill>
                  <a:schemeClr val="bg1">
                    <a:lumMod val="95000"/>
                  </a:scheme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Contains </a:t>
            </a:r>
            <a:r>
              <a:rPr lang="en-US" sz="1400" dirty="0">
                <a:solidFill>
                  <a:schemeClr val="bg1">
                    <a:lumMod val="95000"/>
                  </a:scheme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core game logic: word selection, guess processing, visual hangman </a:t>
            </a:r>
            <a:r>
              <a:rPr lang="en-US" sz="1400" dirty="0" smtClean="0">
                <a:solidFill>
                  <a:schemeClr val="bg1">
                    <a:lumMod val="95000"/>
                  </a:scheme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drawing </a:t>
            </a:r>
            <a:r>
              <a:rPr lang="en-US" sz="1400" dirty="0">
                <a:solidFill>
                  <a:schemeClr val="bg1">
                    <a:lumMod val="95000"/>
                  </a:scheme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 win/lose conditions.</a:t>
            </a:r>
            <a:endParaRPr lang="en-US" sz="1400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9572" y="4364058"/>
            <a:ext cx="875943" cy="1289209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150656" y="4554188"/>
            <a:ext cx="2189798" cy="273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player.c</a:t>
            </a:r>
            <a:endParaRPr lang="en-US" sz="1700" dirty="0"/>
          </a:p>
        </p:txBody>
      </p:sp>
      <p:sp>
        <p:nvSpPr>
          <p:cNvPr id="10" name="Text 5"/>
          <p:cNvSpPr/>
          <p:nvPr/>
        </p:nvSpPr>
        <p:spPr>
          <a:xfrm>
            <a:off x="7150656" y="4917817"/>
            <a:ext cx="6866573" cy="560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Manages player interactions: name input, secure score saving and </a:t>
            </a:r>
            <a:r>
              <a:rPr lang="en-US" sz="1400" dirty="0" smtClean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loading and high-score </a:t>
            </a: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display.</a:t>
            </a:r>
            <a:endParaRPr lang="en-US" sz="14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9572" y="5653266"/>
            <a:ext cx="875943" cy="1289209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150656" y="5828407"/>
            <a:ext cx="2189798" cy="273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main.c</a:t>
            </a:r>
            <a:endParaRPr lang="en-US" sz="1700" dirty="0"/>
          </a:p>
        </p:txBody>
      </p:sp>
      <p:sp>
        <p:nvSpPr>
          <p:cNvPr id="13" name="Text 7"/>
          <p:cNvSpPr/>
          <p:nvPr/>
        </p:nvSpPr>
        <p:spPr>
          <a:xfrm>
            <a:off x="7150656" y="6207026"/>
            <a:ext cx="6866573" cy="560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Serves as the </a:t>
            </a:r>
            <a:r>
              <a:rPr lang="en-US" sz="1400" dirty="0" smtClean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controller: </a:t>
            </a: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controls the overall program flow, integrates the various </a:t>
            </a:r>
            <a:r>
              <a:rPr lang="en-US" sz="1400" dirty="0" smtClean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modules we used </a:t>
            </a: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 </a:t>
            </a:r>
            <a:r>
              <a:rPr lang="en-US" sz="1400" dirty="0" smtClean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handles the </a:t>
            </a: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 choices.</a:t>
            </a:r>
            <a:endParaRPr lang="en-US" sz="1400" dirty="0"/>
          </a:p>
        </p:txBody>
      </p:sp>
      <p:sp>
        <p:nvSpPr>
          <p:cNvPr id="16" name="TextBox 15"/>
          <p:cNvSpPr txBox="1"/>
          <p:nvPr/>
        </p:nvSpPr>
        <p:spPr>
          <a:xfrm>
            <a:off x="7758054" y="7883260"/>
            <a:ext cx="77844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Group-3 | Members: Intisar </a:t>
            </a:r>
            <a:r>
              <a:rPr lang="en-US" sz="1400" dirty="0" err="1">
                <a:solidFill>
                  <a:schemeClr val="bg1">
                    <a:lumMod val="65000"/>
                  </a:schemeClr>
                </a:solidFill>
              </a:rPr>
              <a:t>Binthay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bg1">
                    <a:lumMod val="65000"/>
                  </a:schemeClr>
                </a:solidFill>
              </a:rPr>
              <a:t>Fauzul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, </a:t>
            </a:r>
            <a:r>
              <a:rPr lang="en-US" sz="1400" dirty="0" err="1">
                <a:solidFill>
                  <a:schemeClr val="bg1">
                    <a:lumMod val="65000"/>
                  </a:schemeClr>
                </a:solidFill>
              </a:rPr>
              <a:t>Ashfaqul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bg1">
                    <a:lumMod val="65000"/>
                  </a:schemeClr>
                </a:solidFill>
              </a:rPr>
              <a:t>Alam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, Syed Sadat Hasan, </a:t>
            </a:r>
            <a:r>
              <a:rPr lang="en-US" sz="1400" dirty="0" err="1">
                <a:solidFill>
                  <a:schemeClr val="bg1">
                    <a:lumMod val="65000"/>
                  </a:schemeClr>
                </a:solidFill>
              </a:rPr>
              <a:t>Rafiha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bg1">
                    <a:lumMod val="65000"/>
                  </a:schemeClr>
                </a:solidFill>
              </a:rPr>
              <a:t>Saleha</a:t>
            </a:r>
            <a:endParaRPr lang="en-US" sz="14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56562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42164" y="391640"/>
            <a:ext cx="685490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Technical Features: Bringing the Game to Life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81845" y="802978"/>
            <a:ext cx="13836729" cy="2415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2000" b="1" dirty="0" smtClean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Hangman game integrates several features that enhance its functionality </a:t>
            </a:r>
          </a:p>
          <a:p>
            <a:pPr marL="0" indent="0" algn="ctr">
              <a:buNone/>
            </a:pPr>
            <a:r>
              <a:rPr lang="en-US" sz="2000" b="1" dirty="0" smtClean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 user experience.</a:t>
            </a:r>
            <a:endParaRPr lang="en-US" sz="2000" b="1" dirty="0"/>
          </a:p>
        </p:txBody>
      </p:sp>
      <p:sp>
        <p:nvSpPr>
          <p:cNvPr id="4" name="Shape 2"/>
          <p:cNvSpPr/>
          <p:nvPr/>
        </p:nvSpPr>
        <p:spPr>
          <a:xfrm>
            <a:off x="396835" y="1590239"/>
            <a:ext cx="6861691" cy="3272705"/>
          </a:xfrm>
          <a:prstGeom prst="roundRect">
            <a:avLst>
              <a:gd name="adj" fmla="val 1379"/>
            </a:avLst>
          </a:prstGeom>
          <a:solidFill>
            <a:srgbClr val="404040"/>
          </a:solidFill>
          <a:ln w="15240">
            <a:solidFill>
              <a:srgbClr val="F1E9D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373" y="1605903"/>
            <a:ext cx="85805" cy="6436660"/>
          </a:xfrm>
          <a:prstGeom prst="roundRect">
            <a:avLst>
              <a:gd name="adj" fmla="val 78139"/>
            </a:avLst>
          </a:prstGeom>
          <a:solidFill>
            <a:srgbClr val="F1E9D2"/>
          </a:solidFill>
          <a:ln/>
        </p:spPr>
      </p:sp>
      <p:sp>
        <p:nvSpPr>
          <p:cNvPr id="6" name="Text 4"/>
          <p:cNvSpPr/>
          <p:nvPr/>
        </p:nvSpPr>
        <p:spPr>
          <a:xfrm>
            <a:off x="1652945" y="1949671"/>
            <a:ext cx="1602819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Dynamic Word Loading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36910" y="2279113"/>
            <a:ext cx="6558796" cy="189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Words are loaded dynamically </a:t>
            </a:r>
            <a:endParaRPr lang="en-US" sz="2000" dirty="0" smtClean="0">
              <a:solidFill>
                <a:srgbClr val="FFFFFF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marL="0" indent="0" algn="l">
              <a:buNone/>
            </a:pPr>
            <a:r>
              <a:rPr lang="en-US" sz="2000" dirty="0" smtClean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</a:t>
            </a:r>
            <a:r>
              <a:rPr lang="en-US" sz="2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</a:t>
            </a:r>
            <a:r>
              <a:rPr lang="en-US" sz="2000" dirty="0">
                <a:solidFill>
                  <a:srgbClr val="FFFFFF"/>
                </a:solidFill>
                <a:highlight>
                  <a:srgbClr val="4D4D4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words.txt</a:t>
            </a:r>
            <a:r>
              <a:rPr lang="en-US" sz="2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endParaRPr lang="en-US" sz="2000" dirty="0" smtClean="0">
              <a:solidFill>
                <a:srgbClr val="FFFFFF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marL="0" indent="0" algn="l">
              <a:buNone/>
            </a:pPr>
            <a:r>
              <a:rPr lang="en-US" sz="2000" dirty="0" smtClean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file</a:t>
            </a:r>
            <a:r>
              <a:rPr lang="en-US" sz="2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allowing for an </a:t>
            </a:r>
            <a:endParaRPr lang="en-US" sz="2000" dirty="0">
              <a:solidFill>
                <a:srgbClr val="FFFFFF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marL="0" indent="0" algn="l">
              <a:buNone/>
            </a:pPr>
            <a:r>
              <a:rPr lang="en-US" sz="2000" dirty="0" smtClean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expandable Vocabulary </a:t>
            </a:r>
            <a:r>
              <a:rPr lang="en-US" sz="2000" dirty="0" smtClean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 </a:t>
            </a:r>
            <a:endParaRPr lang="en-US" sz="2000" dirty="0" smtClean="0">
              <a:solidFill>
                <a:srgbClr val="FFFFFF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marL="0" indent="0" algn="l">
              <a:buNone/>
            </a:pPr>
            <a:r>
              <a:rPr lang="en-US" sz="2000" dirty="0" smtClean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50tech-related</a:t>
            </a:r>
            <a:r>
              <a:rPr lang="en-US" sz="2000" dirty="0" smtClean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2000" dirty="0" smtClean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terms. </a:t>
            </a:r>
          </a:p>
          <a:p>
            <a:pPr marL="0" indent="0" algn="l">
              <a:buNone/>
            </a:pPr>
            <a:r>
              <a:rPr lang="en-US" sz="2000" dirty="0" smtClean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(Reads first 50 but </a:t>
            </a:r>
          </a:p>
          <a:p>
            <a:pPr marL="0" indent="0" algn="l">
              <a:buNone/>
            </a:pPr>
            <a:r>
              <a:rPr lang="en-US" sz="2000" dirty="0" smtClean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 be increased if needed)</a:t>
            </a:r>
            <a:endParaRPr lang="en-US" sz="20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0101" y="2973926"/>
            <a:ext cx="2609515" cy="1785453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330299" y="1605903"/>
            <a:ext cx="6861691" cy="3257042"/>
          </a:xfrm>
          <a:prstGeom prst="roundRect">
            <a:avLst>
              <a:gd name="adj" fmla="val 1379"/>
            </a:avLst>
          </a:prstGeom>
          <a:solidFill>
            <a:srgbClr val="404040"/>
          </a:solidFill>
          <a:ln w="15240">
            <a:solidFill>
              <a:srgbClr val="F1E9D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260145" y="1624058"/>
            <a:ext cx="55054" cy="6465991"/>
          </a:xfrm>
          <a:prstGeom prst="roundRect">
            <a:avLst>
              <a:gd name="adj" fmla="val 78139"/>
            </a:avLst>
          </a:prstGeom>
          <a:solidFill>
            <a:srgbClr val="F1E9D2"/>
          </a:solidFill>
          <a:ln/>
        </p:spPr>
      </p:sp>
      <p:sp>
        <p:nvSpPr>
          <p:cNvPr id="11" name="Text 8"/>
          <p:cNvSpPr/>
          <p:nvPr/>
        </p:nvSpPr>
        <p:spPr>
          <a:xfrm>
            <a:off x="8755656" y="1949671"/>
            <a:ext cx="1417558" cy="1941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Score Persistence</a:t>
            </a:r>
            <a:endParaRPr lang="en-US" sz="3200" dirty="0"/>
          </a:p>
        </p:txBody>
      </p:sp>
      <p:sp>
        <p:nvSpPr>
          <p:cNvPr id="12" name="Text 9"/>
          <p:cNvSpPr/>
          <p:nvPr/>
        </p:nvSpPr>
        <p:spPr>
          <a:xfrm>
            <a:off x="7757276" y="2198286"/>
            <a:ext cx="6558796" cy="189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Player scores are saved and </a:t>
            </a:r>
            <a:endParaRPr lang="en-US" sz="2400" dirty="0" smtClean="0">
              <a:solidFill>
                <a:srgbClr val="FFFFFF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marL="0" indent="0" algn="l">
              <a:buNone/>
            </a:pPr>
            <a:r>
              <a:rPr lang="en-US" sz="2400" dirty="0" smtClean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loaded from </a:t>
            </a:r>
            <a:r>
              <a:rPr lang="en-US" sz="2400" dirty="0">
                <a:solidFill>
                  <a:srgbClr val="FFFFFF"/>
                </a:solidFill>
                <a:highlight>
                  <a:srgbClr val="4D4D4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scores.txt</a:t>
            </a:r>
            <a:r>
              <a:rPr lang="en-US" sz="2400" dirty="0" smtClean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</a:t>
            </a:r>
          </a:p>
          <a:p>
            <a:pPr marL="0" indent="0" algn="l">
              <a:buNone/>
            </a:pPr>
            <a:r>
              <a:rPr lang="en-US" sz="2400" dirty="0" smtClean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ensuring </a:t>
            </a:r>
            <a:r>
              <a:rPr 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 scores </a:t>
            </a:r>
            <a:endParaRPr lang="en-US" sz="2400" dirty="0" smtClean="0">
              <a:solidFill>
                <a:srgbClr val="FFFFFF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marL="0" indent="0" algn="l">
              <a:buNone/>
            </a:pPr>
            <a:r>
              <a:rPr lang="en-US" sz="2400" dirty="0" smtClean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persist across </a:t>
            </a:r>
            <a:r>
              <a:rPr 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gaming </a:t>
            </a:r>
            <a:endParaRPr lang="en-US" sz="2400" dirty="0" smtClean="0">
              <a:solidFill>
                <a:srgbClr val="FFFFFF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marL="0" indent="0" algn="l">
              <a:buNone/>
            </a:pPr>
            <a:r>
              <a:rPr lang="en-US" sz="2400" dirty="0" smtClean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sessions</a:t>
            </a:r>
            <a:r>
              <a:rPr 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24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85693" y="2973927"/>
            <a:ext cx="2555961" cy="1748811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460178" y="4958639"/>
            <a:ext cx="6753592" cy="3099588"/>
          </a:xfrm>
          <a:prstGeom prst="roundRect">
            <a:avLst>
              <a:gd name="adj" fmla="val 1335"/>
            </a:avLst>
          </a:prstGeom>
          <a:solidFill>
            <a:srgbClr val="404040"/>
          </a:solidFill>
          <a:ln w="15240">
            <a:solidFill>
              <a:srgbClr val="F1E9D2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1327970" y="5356703"/>
            <a:ext cx="2130443" cy="1464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Interactive User Interface</a:t>
            </a:r>
            <a:endParaRPr lang="en-US" sz="3200" dirty="0"/>
          </a:p>
        </p:txBody>
      </p:sp>
      <p:sp>
        <p:nvSpPr>
          <p:cNvPr id="17" name="Text 13"/>
          <p:cNvSpPr/>
          <p:nvPr/>
        </p:nvSpPr>
        <p:spPr>
          <a:xfrm>
            <a:off x="816888" y="5956089"/>
            <a:ext cx="6558796" cy="362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rgbClr val="FFFFFF"/>
                </a:solidFill>
                <a:latin typeface="Inter" panose="02000503000000020004" charset="0"/>
                <a:ea typeface="Inter" panose="02000503000000020004" charset="0"/>
                <a:cs typeface="Inter" panose="02000503000000020004" charset="0"/>
              </a:rPr>
              <a:t>A </a:t>
            </a:r>
            <a:r>
              <a:rPr lang="en-US" sz="2400" dirty="0" smtClean="0">
                <a:solidFill>
                  <a:srgbClr val="FFFFFF"/>
                </a:solidFill>
                <a:latin typeface="Inter" panose="02000503000000020004" charset="0"/>
                <a:ea typeface="Inter" panose="02000503000000020004" charset="0"/>
                <a:cs typeface="Inter" panose="02000503000000020004" charset="0"/>
              </a:rPr>
              <a:t>basic terminal based </a:t>
            </a:r>
            <a:r>
              <a:rPr lang="en-US" sz="2400" dirty="0">
                <a:solidFill>
                  <a:srgbClr val="FFFFFF"/>
                </a:solidFill>
                <a:latin typeface="Inter" panose="02000503000000020004" charset="0"/>
                <a:ea typeface="Inter" panose="02000503000000020004" charset="0"/>
                <a:cs typeface="Inter" panose="02000503000000020004" charset="0"/>
              </a:rPr>
              <a:t>UI displays </a:t>
            </a:r>
            <a:r>
              <a:rPr lang="en-US" sz="2400" dirty="0" smtClean="0">
                <a:solidFill>
                  <a:srgbClr val="FFFFFF"/>
                </a:solidFill>
                <a:latin typeface="Inter" panose="02000503000000020004" charset="0"/>
                <a:ea typeface="Inter" panose="02000503000000020004" charset="0"/>
                <a:cs typeface="Inter" panose="02000503000000020004" charset="0"/>
              </a:rPr>
              <a:t>the hangman </a:t>
            </a:r>
            <a:r>
              <a:rPr lang="en-US" sz="2400" dirty="0">
                <a:solidFill>
                  <a:srgbClr val="FFFFFF"/>
                </a:solidFill>
                <a:latin typeface="Inter" panose="02000503000000020004" charset="0"/>
                <a:ea typeface="Inter" panose="02000503000000020004" charset="0"/>
                <a:cs typeface="Inter" panose="02000503000000020004" charset="0"/>
              </a:rPr>
              <a:t>stages, </a:t>
            </a:r>
            <a:r>
              <a:rPr lang="en-US" sz="2400" dirty="0" smtClean="0">
                <a:solidFill>
                  <a:srgbClr val="FFFFFF"/>
                </a:solidFill>
                <a:latin typeface="Inter" panose="02000503000000020004" charset="0"/>
                <a:ea typeface="Inter" panose="02000503000000020004" charset="0"/>
                <a:cs typeface="Inter" panose="02000503000000020004" charset="0"/>
              </a:rPr>
              <a:t>remaining tries</a:t>
            </a:r>
          </a:p>
          <a:p>
            <a:pPr marL="0" indent="0" algn="l">
              <a:buNone/>
            </a:pPr>
            <a:r>
              <a:rPr lang="en-US" sz="2400" dirty="0" smtClean="0">
                <a:solidFill>
                  <a:srgbClr val="FFFFFF"/>
                </a:solidFill>
                <a:latin typeface="Inter" panose="02000503000000020004" charset="0"/>
                <a:ea typeface="Inter" panose="02000503000000020004" charset="0"/>
                <a:cs typeface="Inter" panose="02000503000000020004" charset="0"/>
              </a:rPr>
              <a:t>and </a:t>
            </a:r>
            <a:r>
              <a:rPr lang="en-US" sz="2400" dirty="0">
                <a:solidFill>
                  <a:srgbClr val="FFFFFF"/>
                </a:solidFill>
                <a:latin typeface="Inter" panose="02000503000000020004" charset="0"/>
                <a:ea typeface="Inter" panose="02000503000000020004" charset="0"/>
                <a:cs typeface="Inter" panose="02000503000000020004" charset="0"/>
              </a:rPr>
              <a:t>a clear list of already </a:t>
            </a:r>
            <a:r>
              <a:rPr lang="en-US" sz="2400" dirty="0" smtClean="0">
                <a:solidFill>
                  <a:srgbClr val="FFFFFF"/>
                </a:solidFill>
                <a:latin typeface="Inter" panose="02000503000000020004" charset="0"/>
                <a:ea typeface="Inter" panose="02000503000000020004" charset="0"/>
                <a:cs typeface="Inter" panose="02000503000000020004" charset="0"/>
              </a:rPr>
              <a:t>guessed </a:t>
            </a:r>
          </a:p>
          <a:p>
            <a:pPr marL="0" indent="0" algn="l">
              <a:buNone/>
            </a:pPr>
            <a:r>
              <a:rPr lang="en-US" sz="2400" dirty="0" smtClean="0">
                <a:solidFill>
                  <a:srgbClr val="FFFFFF"/>
                </a:solidFill>
                <a:latin typeface="Inter" panose="02000503000000020004" charset="0"/>
                <a:ea typeface="Inter" panose="02000503000000020004" charset="0"/>
                <a:cs typeface="Inter" panose="02000503000000020004" charset="0"/>
              </a:rPr>
              <a:t>letters </a:t>
            </a:r>
            <a:r>
              <a:rPr lang="en-US" sz="2400" dirty="0">
                <a:solidFill>
                  <a:srgbClr val="FFFFFF"/>
                </a:solidFill>
                <a:latin typeface="Inter" panose="02000503000000020004" charset="0"/>
                <a:ea typeface="Inter" panose="02000503000000020004" charset="0"/>
                <a:cs typeface="Inter" panose="02000503000000020004" charset="0"/>
              </a:rPr>
              <a:t>for an intuitive experience.</a:t>
            </a:r>
            <a:endParaRPr lang="en-US" sz="2400" dirty="0">
              <a:latin typeface="Inter" panose="02000503000000020004" charset="0"/>
              <a:ea typeface="Inter" panose="02000503000000020004" charset="0"/>
              <a:cs typeface="Inter" panose="02000503000000020004" charset="0"/>
            </a:endParaRPr>
          </a:p>
        </p:txBody>
      </p:sp>
      <p:sp>
        <p:nvSpPr>
          <p:cNvPr id="19" name="Shape 14"/>
          <p:cNvSpPr/>
          <p:nvPr/>
        </p:nvSpPr>
        <p:spPr>
          <a:xfrm>
            <a:off x="7395706" y="4958639"/>
            <a:ext cx="6779945" cy="3099588"/>
          </a:xfrm>
          <a:prstGeom prst="roundRect">
            <a:avLst>
              <a:gd name="adj" fmla="val 1335"/>
            </a:avLst>
          </a:prstGeom>
          <a:solidFill>
            <a:srgbClr val="404040"/>
          </a:solidFill>
          <a:ln w="15240">
            <a:solidFill>
              <a:srgbClr val="F1E9D2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 flipH="1">
            <a:off x="7297458" y="1605903"/>
            <a:ext cx="45719" cy="6484146"/>
          </a:xfrm>
          <a:prstGeom prst="roundRect">
            <a:avLst>
              <a:gd name="adj" fmla="val 78139"/>
            </a:avLst>
          </a:prstGeom>
          <a:solidFill>
            <a:srgbClr val="F1E9D2"/>
          </a:solidFill>
          <a:ln/>
        </p:spPr>
      </p:sp>
      <p:sp>
        <p:nvSpPr>
          <p:cNvPr id="21" name="Text 16"/>
          <p:cNvSpPr/>
          <p:nvPr/>
        </p:nvSpPr>
        <p:spPr>
          <a:xfrm>
            <a:off x="7941528" y="5325955"/>
            <a:ext cx="2044422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Robust Memory Management</a:t>
            </a:r>
            <a:endParaRPr lang="en-US" sz="3200" dirty="0"/>
          </a:p>
        </p:txBody>
      </p:sp>
      <p:sp>
        <p:nvSpPr>
          <p:cNvPr id="22" name="Text 17"/>
          <p:cNvSpPr/>
          <p:nvPr/>
        </p:nvSpPr>
        <p:spPr>
          <a:xfrm>
            <a:off x="7788115" y="5943595"/>
            <a:ext cx="6558796" cy="189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Utilizes </a:t>
            </a:r>
            <a:r>
              <a:rPr lang="en-US" sz="2400" dirty="0">
                <a:solidFill>
                  <a:srgbClr val="FFFFFF"/>
                </a:solidFill>
                <a:highlight>
                  <a:srgbClr val="4D4D4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malloc</a:t>
            </a:r>
            <a:r>
              <a:rPr 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</a:t>
            </a:r>
            <a:r>
              <a:rPr lang="en-US" sz="2400" dirty="0">
                <a:solidFill>
                  <a:srgbClr val="FFFFFF"/>
                </a:solidFill>
                <a:highlight>
                  <a:srgbClr val="4D4D4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free</a:t>
            </a:r>
            <a:r>
              <a:rPr 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for efficient word </a:t>
            </a:r>
            <a:endParaRPr lang="en-US" sz="2400" dirty="0" smtClean="0">
              <a:solidFill>
                <a:srgbClr val="FFFFFF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marL="0" indent="0" algn="l">
              <a:buNone/>
            </a:pPr>
            <a:r>
              <a:rPr lang="en-US" sz="2400" dirty="0" smtClean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list </a:t>
            </a:r>
            <a:r>
              <a:rPr 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handling, </a:t>
            </a:r>
            <a:r>
              <a:rPr lang="en-US" sz="2400" dirty="0" smtClean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preventing </a:t>
            </a:r>
            <a:r>
              <a:rPr 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memory leaks </a:t>
            </a:r>
            <a:endParaRPr lang="en-US" sz="2400" dirty="0" smtClean="0">
              <a:solidFill>
                <a:srgbClr val="FFFFFF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marL="0" indent="0" algn="l">
              <a:buNone/>
            </a:pPr>
            <a:r>
              <a:rPr lang="en-US" sz="2400" dirty="0" smtClean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 </a:t>
            </a:r>
            <a:r>
              <a:rPr 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ensuring stable performance.</a:t>
            </a:r>
            <a:endParaRPr lang="en-US" sz="2400" dirty="0"/>
          </a:p>
        </p:txBody>
      </p:sp>
      <p:sp>
        <p:nvSpPr>
          <p:cNvPr id="24" name="Shape 3"/>
          <p:cNvSpPr/>
          <p:nvPr/>
        </p:nvSpPr>
        <p:spPr>
          <a:xfrm>
            <a:off x="14175651" y="1605902"/>
            <a:ext cx="94047" cy="6436661"/>
          </a:xfrm>
          <a:prstGeom prst="roundRect">
            <a:avLst>
              <a:gd name="adj" fmla="val 78139"/>
            </a:avLst>
          </a:prstGeom>
          <a:solidFill>
            <a:srgbClr val="F1E9D2"/>
          </a:solidFill>
          <a:ln/>
        </p:spPr>
      </p:sp>
      <p:sp>
        <p:nvSpPr>
          <p:cNvPr id="25" name="TextBox 24"/>
          <p:cNvSpPr txBox="1"/>
          <p:nvPr/>
        </p:nvSpPr>
        <p:spPr>
          <a:xfrm>
            <a:off x="7399402" y="7748211"/>
            <a:ext cx="77844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Group-3 | Members: Intisar </a:t>
            </a:r>
            <a:r>
              <a:rPr lang="en-US" sz="1400" dirty="0" err="1">
                <a:solidFill>
                  <a:schemeClr val="bg1">
                    <a:lumMod val="65000"/>
                  </a:schemeClr>
                </a:solidFill>
              </a:rPr>
              <a:t>Binthay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bg1">
                    <a:lumMod val="65000"/>
                  </a:schemeClr>
                </a:solidFill>
              </a:rPr>
              <a:t>Fauzul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, </a:t>
            </a:r>
            <a:r>
              <a:rPr lang="en-US" sz="1400" dirty="0" err="1">
                <a:solidFill>
                  <a:schemeClr val="bg1">
                    <a:lumMod val="65000"/>
                  </a:schemeClr>
                </a:solidFill>
              </a:rPr>
              <a:t>Ashfaqul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bg1">
                    <a:lumMod val="65000"/>
                  </a:schemeClr>
                </a:solidFill>
              </a:rPr>
              <a:t>Alam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, Syed Sadat Hasan, </a:t>
            </a:r>
            <a:r>
              <a:rPr lang="en-US" sz="1400" dirty="0" err="1">
                <a:solidFill>
                  <a:schemeClr val="bg1">
                    <a:lumMod val="65000"/>
                  </a:schemeClr>
                </a:solidFill>
              </a:rPr>
              <a:t>Rafiha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bg1">
                    <a:lumMod val="65000"/>
                  </a:schemeClr>
                </a:solidFill>
              </a:rPr>
              <a:t>Saleha</a:t>
            </a:r>
            <a:endParaRPr lang="en-US" sz="14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77496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6513" y="531495"/>
            <a:ext cx="3866198" cy="483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3000" b="1" dirty="0">
                <a:solidFill>
                  <a:schemeClr val="bg1">
                    <a:lumMod val="95000"/>
                  </a:schemeClr>
                </a:solidFill>
                <a:latin typeface="Inter Bold" panose="02000503000000020004" pitchFamily="2" charset="0"/>
                <a:ea typeface="Inter Bold" panose="02000503000000020004" pitchFamily="2" charset="0"/>
                <a:cs typeface="Gelasio" pitchFamily="34" charset="-120"/>
              </a:rPr>
              <a:t>How We Made It</a:t>
            </a:r>
            <a:endParaRPr lang="en-US" sz="3000" b="1" dirty="0">
              <a:solidFill>
                <a:schemeClr val="bg1">
                  <a:lumMod val="95000"/>
                </a:schemeClr>
              </a:solidFill>
              <a:latin typeface="Inter Bold" panose="02000503000000020004" pitchFamily="2" charset="0"/>
              <a:ea typeface="Inter Bold" panose="02000503000000020004" pitchFamily="2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76513" y="1401247"/>
            <a:ext cx="13277374" cy="309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C9C2C0"/>
                </a:solidFill>
                <a:latin typeface="Inter Bold" panose="02000503000000020004" pitchFamily="2" charset="0"/>
                <a:ea typeface="Inter Bold" panose="02000503000000020004" pitchFamily="2" charset="0"/>
                <a:cs typeface="Gelasio" pitchFamily="34" charset="-120"/>
              </a:rPr>
              <a:t>Here's how we built the </a:t>
            </a:r>
            <a:r>
              <a:rPr lang="en-US" sz="1500" dirty="0" smtClean="0">
                <a:solidFill>
                  <a:srgbClr val="C9C2C0"/>
                </a:solidFill>
                <a:latin typeface="Inter Bold" panose="02000503000000020004" pitchFamily="2" charset="0"/>
                <a:ea typeface="Inter Bold" panose="02000503000000020004" pitchFamily="2" charset="0"/>
                <a:cs typeface="Gelasio" pitchFamily="34" charset="-120"/>
              </a:rPr>
              <a:t>game...</a:t>
            </a:r>
            <a:endParaRPr lang="en-US" sz="1500" dirty="0">
              <a:latin typeface="Inter Bold" panose="02000503000000020004" pitchFamily="2" charset="0"/>
              <a:ea typeface="Inter Bold" panose="02000503000000020004" pitchFamily="2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303770" y="1927979"/>
            <a:ext cx="22860" cy="5771912"/>
          </a:xfrm>
          <a:prstGeom prst="roundRect">
            <a:avLst>
              <a:gd name="adj" fmla="val 126844"/>
            </a:avLst>
          </a:prstGeom>
          <a:solidFill>
            <a:srgbClr val="504D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540758" y="2133957"/>
            <a:ext cx="579834" cy="22860"/>
          </a:xfrm>
          <a:prstGeom prst="roundRect">
            <a:avLst>
              <a:gd name="adj" fmla="val 126844"/>
            </a:avLst>
          </a:prstGeom>
          <a:solidFill>
            <a:srgbClr val="504D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097732" y="1927979"/>
            <a:ext cx="434935" cy="434935"/>
          </a:xfrm>
          <a:prstGeom prst="roundRect">
            <a:avLst>
              <a:gd name="adj" fmla="val 6667"/>
            </a:avLst>
          </a:prstGeom>
          <a:solidFill>
            <a:srgbClr val="3734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170182" y="1964174"/>
            <a:ext cx="289917" cy="3624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22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1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3932277" y="1994416"/>
            <a:ext cx="2416373" cy="302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350"/>
              </a:lnSpc>
              <a:buNone/>
            </a:pPr>
            <a:r>
              <a:rPr lang="en-US" sz="1900" b="1" dirty="0">
                <a:solidFill>
                  <a:schemeClr val="bg1"/>
                </a:solidFill>
                <a:latin typeface="Inter Bold" panose="02000503000000020004" pitchFamily="2" charset="0"/>
                <a:ea typeface="Inter Bold" panose="02000503000000020004" pitchFamily="2" charset="0"/>
                <a:cs typeface="Gelasio" pitchFamily="34" charset="-120"/>
              </a:rPr>
              <a:t>Plan &amp; Design</a:t>
            </a:r>
            <a:endParaRPr lang="en-US" sz="1900" b="1" dirty="0">
              <a:solidFill>
                <a:schemeClr val="bg1"/>
              </a:solidFill>
              <a:latin typeface="Inter Bold" panose="02000503000000020004" pitchFamily="2" charset="0"/>
              <a:ea typeface="Inter Bold" panose="02000503000000020004" pitchFamily="2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676513" y="2412444"/>
            <a:ext cx="5672138" cy="309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400"/>
              </a:lnSpc>
              <a:buNone/>
            </a:pPr>
            <a:r>
              <a:rPr lang="en-US" sz="1500" dirty="0">
                <a:solidFill>
                  <a:schemeClr val="bg1">
                    <a:lumMod val="95000"/>
                  </a:schemeClr>
                </a:solidFill>
                <a:latin typeface="Inter Bold" panose="02000503000000020004" pitchFamily="2" charset="0"/>
                <a:ea typeface="Inter Bold" panose="02000503000000020004" pitchFamily="2" charset="0"/>
                <a:cs typeface="Gelasio" pitchFamily="34" charset="-120"/>
              </a:rPr>
              <a:t>We decided what the game would do and how it would work.</a:t>
            </a:r>
            <a:endParaRPr lang="en-US" sz="1500" dirty="0">
              <a:solidFill>
                <a:schemeClr val="bg1">
                  <a:lumMod val="95000"/>
                </a:schemeClr>
              </a:solidFill>
              <a:latin typeface="Inter Bold" panose="02000503000000020004" pitchFamily="2" charset="0"/>
              <a:ea typeface="Inter Bold" panose="02000503000000020004" pitchFamily="2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509808" y="3293745"/>
            <a:ext cx="579834" cy="22860"/>
          </a:xfrm>
          <a:prstGeom prst="roundRect">
            <a:avLst>
              <a:gd name="adj" fmla="val 126844"/>
            </a:avLst>
          </a:prstGeom>
          <a:solidFill>
            <a:srgbClr val="504D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097732" y="3087767"/>
            <a:ext cx="434935" cy="434935"/>
          </a:xfrm>
          <a:prstGeom prst="roundRect">
            <a:avLst>
              <a:gd name="adj" fmla="val 6667"/>
            </a:avLst>
          </a:prstGeom>
          <a:solidFill>
            <a:srgbClr val="3734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170182" y="3123962"/>
            <a:ext cx="289917" cy="3624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22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2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8281749" y="3154204"/>
            <a:ext cx="2416373" cy="302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b="1" dirty="0">
                <a:solidFill>
                  <a:schemeClr val="bg1"/>
                </a:solidFill>
                <a:latin typeface="Inter Bold" panose="02000503000000020004" pitchFamily="2" charset="0"/>
                <a:ea typeface="Inter Bold" panose="02000503000000020004" pitchFamily="2" charset="0"/>
                <a:cs typeface="Gelasio" pitchFamily="34" charset="-120"/>
              </a:rPr>
              <a:t>Build Main Parts</a:t>
            </a:r>
            <a:endParaRPr lang="en-US" sz="1900" b="1" dirty="0">
              <a:solidFill>
                <a:schemeClr val="bg1"/>
              </a:solidFill>
              <a:latin typeface="Inter Bold" panose="02000503000000020004" pitchFamily="2" charset="0"/>
              <a:ea typeface="Inter Bold" panose="02000503000000020004" pitchFamily="2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281749" y="3572232"/>
            <a:ext cx="5672138" cy="309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chemeClr val="bg1">
                    <a:lumMod val="95000"/>
                  </a:schemeClr>
                </a:solidFill>
                <a:latin typeface="Inter Bold" panose="02000503000000020004" pitchFamily="2" charset="0"/>
                <a:ea typeface="Inter Bold" panose="02000503000000020004" pitchFamily="2" charset="0"/>
                <a:cs typeface="Gelasio" pitchFamily="34" charset="-120"/>
              </a:rPr>
              <a:t>We made the game pick words and check guesses.</a:t>
            </a:r>
            <a:endParaRPr lang="en-US" sz="1500" dirty="0">
              <a:solidFill>
                <a:schemeClr val="bg1">
                  <a:lumMod val="95000"/>
                </a:schemeClr>
              </a:solidFill>
              <a:latin typeface="Inter Bold" panose="02000503000000020004" pitchFamily="2" charset="0"/>
              <a:ea typeface="Inter Bold" panose="02000503000000020004" pitchFamily="2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540758" y="4293394"/>
            <a:ext cx="579834" cy="22860"/>
          </a:xfrm>
          <a:prstGeom prst="roundRect">
            <a:avLst>
              <a:gd name="adj" fmla="val 126844"/>
            </a:avLst>
          </a:prstGeom>
          <a:solidFill>
            <a:srgbClr val="504D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097732" y="4087416"/>
            <a:ext cx="434935" cy="434935"/>
          </a:xfrm>
          <a:prstGeom prst="roundRect">
            <a:avLst>
              <a:gd name="adj" fmla="val 6667"/>
            </a:avLst>
          </a:prstGeom>
          <a:solidFill>
            <a:srgbClr val="3734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170182" y="4123611"/>
            <a:ext cx="289917" cy="3624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22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3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3932277" y="4153853"/>
            <a:ext cx="2416373" cy="302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350"/>
              </a:lnSpc>
              <a:buNone/>
            </a:pPr>
            <a:r>
              <a:rPr lang="en-US" sz="1900" b="1" dirty="0">
                <a:solidFill>
                  <a:schemeClr val="bg1"/>
                </a:solidFill>
                <a:latin typeface="Inter Bold" panose="02000503000000020004" pitchFamily="2" charset="0"/>
                <a:ea typeface="Inter Bold" panose="02000503000000020004" pitchFamily="2" charset="0"/>
                <a:cs typeface="Gelasio" pitchFamily="34" charset="-120"/>
              </a:rPr>
              <a:t>What Players See</a:t>
            </a:r>
            <a:endParaRPr lang="en-US" sz="1900" b="1" dirty="0">
              <a:solidFill>
                <a:schemeClr val="bg1"/>
              </a:solidFill>
              <a:latin typeface="Inter Bold" panose="02000503000000020004" pitchFamily="2" charset="0"/>
              <a:ea typeface="Inter Bold" panose="02000503000000020004" pitchFamily="2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76513" y="4571881"/>
            <a:ext cx="5672138" cy="309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400"/>
              </a:lnSpc>
              <a:buNone/>
            </a:pPr>
            <a:r>
              <a:rPr lang="en-US" sz="1500" dirty="0">
                <a:solidFill>
                  <a:schemeClr val="bg1">
                    <a:lumMod val="95000"/>
                  </a:schemeClr>
                </a:solidFill>
                <a:latin typeface="Inter Bold" panose="02000503000000020004" pitchFamily="2" charset="0"/>
                <a:ea typeface="Inter Bold" panose="02000503000000020004" pitchFamily="2" charset="0"/>
                <a:cs typeface="Gelasio" pitchFamily="34" charset="-120"/>
              </a:rPr>
              <a:t>We wrote the messages and drew the hangman pictures.</a:t>
            </a:r>
            <a:endParaRPr lang="en-US" sz="1500" dirty="0">
              <a:solidFill>
                <a:schemeClr val="bg1">
                  <a:lumMod val="95000"/>
                </a:schemeClr>
              </a:solidFill>
              <a:latin typeface="Inter Bold" panose="02000503000000020004" pitchFamily="2" charset="0"/>
              <a:ea typeface="Inter Bold" panose="02000503000000020004" pitchFamily="2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7509808" y="5293162"/>
            <a:ext cx="579834" cy="22860"/>
          </a:xfrm>
          <a:prstGeom prst="roundRect">
            <a:avLst>
              <a:gd name="adj" fmla="val 126844"/>
            </a:avLst>
          </a:prstGeom>
          <a:solidFill>
            <a:srgbClr val="504D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097732" y="5087183"/>
            <a:ext cx="434935" cy="434935"/>
          </a:xfrm>
          <a:prstGeom prst="roundRect">
            <a:avLst>
              <a:gd name="adj" fmla="val 6667"/>
            </a:avLst>
          </a:prstGeom>
          <a:solidFill>
            <a:srgbClr val="3734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170182" y="5123378"/>
            <a:ext cx="289917" cy="3624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22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4</a:t>
            </a:r>
            <a:endParaRPr lang="en-US" sz="2250" dirty="0"/>
          </a:p>
        </p:txBody>
      </p:sp>
      <p:sp>
        <p:nvSpPr>
          <p:cNvPr id="23" name="Text 21"/>
          <p:cNvSpPr/>
          <p:nvPr/>
        </p:nvSpPr>
        <p:spPr>
          <a:xfrm>
            <a:off x="8281749" y="5153620"/>
            <a:ext cx="2416373" cy="302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b="1" dirty="0">
                <a:solidFill>
                  <a:schemeClr val="bg1"/>
                </a:solidFill>
                <a:latin typeface="Inter Bold" panose="02000503000000020004" pitchFamily="2" charset="0"/>
                <a:ea typeface="Inter Bold" panose="02000503000000020004" pitchFamily="2" charset="0"/>
                <a:cs typeface="Gelasio" pitchFamily="34" charset="-120"/>
              </a:rPr>
              <a:t>Test &amp; Fix</a:t>
            </a:r>
            <a:endParaRPr lang="en-US" sz="1900" b="1" dirty="0">
              <a:solidFill>
                <a:schemeClr val="bg1"/>
              </a:solidFill>
              <a:latin typeface="Inter Bold" panose="02000503000000020004" pitchFamily="2" charset="0"/>
              <a:ea typeface="Inter Bold" panose="02000503000000020004" pitchFamily="2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8281749" y="5571649"/>
            <a:ext cx="5672138" cy="309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 smtClean="0">
                <a:solidFill>
                  <a:schemeClr val="bg1">
                    <a:lumMod val="95000"/>
                  </a:schemeClr>
                </a:solidFill>
                <a:latin typeface="Inter Bold" panose="02000503000000020004" pitchFamily="2" charset="0"/>
                <a:ea typeface="Inter Bold" panose="02000503000000020004" pitchFamily="2" charset="0"/>
                <a:cs typeface="Gelasio" pitchFamily="34" charset="-120"/>
              </a:rPr>
              <a:t>We played the game to find and fix any problems.</a:t>
            </a:r>
            <a:endParaRPr lang="en-US" sz="1500" dirty="0">
              <a:solidFill>
                <a:schemeClr val="bg1">
                  <a:lumMod val="95000"/>
                </a:schemeClr>
              </a:solidFill>
              <a:latin typeface="Inter Bold" panose="02000503000000020004" pitchFamily="2" charset="0"/>
              <a:ea typeface="Inter Bold" panose="02000503000000020004" pitchFamily="2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540758" y="6292929"/>
            <a:ext cx="579834" cy="22860"/>
          </a:xfrm>
          <a:prstGeom prst="roundRect">
            <a:avLst>
              <a:gd name="adj" fmla="val 126844"/>
            </a:avLst>
          </a:prstGeom>
          <a:solidFill>
            <a:srgbClr val="504D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7097732" y="6086951"/>
            <a:ext cx="434935" cy="434935"/>
          </a:xfrm>
          <a:prstGeom prst="roundRect">
            <a:avLst>
              <a:gd name="adj" fmla="val 6667"/>
            </a:avLst>
          </a:prstGeom>
          <a:solidFill>
            <a:srgbClr val="3734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170182" y="6123146"/>
            <a:ext cx="289917" cy="3624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22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5</a:t>
            </a:r>
            <a:endParaRPr lang="en-US" sz="2250" dirty="0"/>
          </a:p>
        </p:txBody>
      </p:sp>
      <p:sp>
        <p:nvSpPr>
          <p:cNvPr id="28" name="Text 26"/>
          <p:cNvSpPr/>
          <p:nvPr/>
        </p:nvSpPr>
        <p:spPr>
          <a:xfrm>
            <a:off x="3932277" y="6153388"/>
            <a:ext cx="2416373" cy="302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350"/>
              </a:lnSpc>
              <a:buNone/>
            </a:pPr>
            <a:r>
              <a:rPr lang="en-US" sz="1900" b="1" dirty="0">
                <a:solidFill>
                  <a:schemeClr val="bg1"/>
                </a:solidFill>
                <a:latin typeface="Inter Bold" panose="02000503000000020004" pitchFamily="2" charset="0"/>
                <a:ea typeface="Inter Bold" panose="02000503000000020004" pitchFamily="2" charset="0"/>
                <a:cs typeface="Gelasio" pitchFamily="34" charset="-120"/>
              </a:rPr>
              <a:t>Make It Better</a:t>
            </a:r>
            <a:endParaRPr lang="en-US" sz="1900" b="1" dirty="0">
              <a:solidFill>
                <a:schemeClr val="bg1"/>
              </a:solidFill>
              <a:latin typeface="Inter Bold" panose="02000503000000020004" pitchFamily="2" charset="0"/>
              <a:ea typeface="Inter Bold" panose="02000503000000020004" pitchFamily="2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76513" y="6571417"/>
            <a:ext cx="5672138" cy="309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400"/>
              </a:lnSpc>
              <a:buNone/>
            </a:pPr>
            <a:r>
              <a:rPr lang="en-US" sz="1500" dirty="0">
                <a:solidFill>
                  <a:schemeClr val="bg1">
                    <a:lumMod val="95000"/>
                  </a:schemeClr>
                </a:solidFill>
                <a:latin typeface="Inter Bold" panose="02000503000000020004" pitchFamily="2" charset="0"/>
                <a:ea typeface="Inter Bold" panose="02000503000000020004" pitchFamily="2" charset="0"/>
                <a:cs typeface="Gelasio" pitchFamily="34" charset="-120"/>
              </a:rPr>
              <a:t>We made the game easier to understand and more fun to play.</a:t>
            </a:r>
            <a:endParaRPr lang="en-US" sz="1500" dirty="0">
              <a:solidFill>
                <a:schemeClr val="bg1">
                  <a:lumMod val="95000"/>
                </a:schemeClr>
              </a:solidFill>
              <a:latin typeface="Inter Bold" panose="02000503000000020004" pitchFamily="2" charset="0"/>
              <a:ea typeface="Inter Bold" panose="02000503000000020004" pitchFamily="2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3512582" y="7750751"/>
            <a:ext cx="77844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Group-3 | Members: Intisar </a:t>
            </a:r>
            <a:r>
              <a:rPr lang="en-US" sz="1600" dirty="0" err="1">
                <a:solidFill>
                  <a:schemeClr val="bg1">
                    <a:lumMod val="65000"/>
                  </a:schemeClr>
                </a:solidFill>
              </a:rPr>
              <a:t>Binthay</a:t>
            </a: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bg1">
                    <a:lumMod val="65000"/>
                  </a:schemeClr>
                </a:solidFill>
              </a:rPr>
              <a:t>Fauzul</a:t>
            </a: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, </a:t>
            </a:r>
            <a:r>
              <a:rPr lang="en-US" sz="1600" dirty="0" err="1">
                <a:solidFill>
                  <a:schemeClr val="bg1">
                    <a:lumMod val="65000"/>
                  </a:schemeClr>
                </a:solidFill>
              </a:rPr>
              <a:t>Ashfaqul</a:t>
            </a: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bg1">
                    <a:lumMod val="65000"/>
                  </a:schemeClr>
                </a:solidFill>
              </a:rPr>
              <a:t>Alam</a:t>
            </a: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, Syed Sadat Hasan, </a:t>
            </a:r>
            <a:r>
              <a:rPr lang="en-US" sz="1600" dirty="0" err="1">
                <a:solidFill>
                  <a:schemeClr val="bg1">
                    <a:lumMod val="65000"/>
                  </a:schemeClr>
                </a:solidFill>
              </a:rPr>
              <a:t>Rafiha</a:t>
            </a: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bg1">
                    <a:lumMod val="65000"/>
                  </a:schemeClr>
                </a:solidFill>
              </a:rPr>
              <a:t>Saleha</a:t>
            </a:r>
            <a:endParaRPr lang="en-US" sz="16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6390" y="508278"/>
            <a:ext cx="12388572" cy="5772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Overcoming Challenges: Solutions for a Polished Game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6390" y="1454825"/>
            <a:ext cx="13337619" cy="590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Developing the Hangman game presented various challenges, particularly in user input and resource management. We implemented thoughtful solutions to ensure a stable, user-friendly, and well-structured application.</a:t>
            </a:r>
            <a:endParaRPr lang="en-US" sz="1600" b="1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390" y="2461141"/>
            <a:ext cx="4590812" cy="45908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6390" y="7259717"/>
            <a:ext cx="6443543" cy="2953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7548086" y="2461141"/>
            <a:ext cx="6443543" cy="1191220"/>
          </a:xfrm>
          <a:prstGeom prst="roundRect">
            <a:avLst>
              <a:gd name="adj" fmla="val 9211"/>
            </a:avLst>
          </a:prstGeom>
          <a:solidFill>
            <a:srgbClr val="404040"/>
          </a:solidFill>
          <a:ln w="22860">
            <a:solidFill>
              <a:srgbClr val="F1E9D2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525226" y="2461141"/>
            <a:ext cx="91440" cy="1191220"/>
          </a:xfrm>
          <a:prstGeom prst="roundRect">
            <a:avLst>
              <a:gd name="adj" fmla="val 84843"/>
            </a:avLst>
          </a:prstGeom>
          <a:solidFill>
            <a:srgbClr val="F1E9D2"/>
          </a:solidFill>
          <a:ln/>
        </p:spPr>
      </p:sp>
      <p:sp>
        <p:nvSpPr>
          <p:cNvPr id="8" name="Text 5"/>
          <p:cNvSpPr/>
          <p:nvPr/>
        </p:nvSpPr>
        <p:spPr>
          <a:xfrm>
            <a:off x="7824192" y="2668667"/>
            <a:ext cx="4215765" cy="288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Challenge: Handling user input errors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824192" y="3141821"/>
            <a:ext cx="5959912" cy="303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Solution: Used </a:t>
            </a:r>
            <a:r>
              <a:rPr lang="en-US" sz="1450" dirty="0">
                <a:solidFill>
                  <a:srgbClr val="FFFFFF"/>
                </a:solidFill>
                <a:highlight>
                  <a:srgbClr val="4D4D4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fgets()</a:t>
            </a:r>
            <a:r>
              <a:rPr lang="en-US" sz="14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+ validation in </a:t>
            </a:r>
            <a:r>
              <a:rPr lang="en-US" sz="1450" dirty="0">
                <a:solidFill>
                  <a:srgbClr val="FFFFFF"/>
                </a:solidFill>
                <a:highlight>
                  <a:srgbClr val="4D4D4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playerGuess()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7548086" y="3837027"/>
            <a:ext cx="6443543" cy="1191220"/>
          </a:xfrm>
          <a:prstGeom prst="roundRect">
            <a:avLst>
              <a:gd name="adj" fmla="val 9211"/>
            </a:avLst>
          </a:prstGeom>
          <a:solidFill>
            <a:srgbClr val="404040"/>
          </a:solidFill>
          <a:ln w="22860">
            <a:solidFill>
              <a:srgbClr val="F1E9D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525226" y="3837027"/>
            <a:ext cx="91440" cy="1191220"/>
          </a:xfrm>
          <a:prstGeom prst="roundRect">
            <a:avLst>
              <a:gd name="adj" fmla="val 84843"/>
            </a:avLst>
          </a:prstGeom>
          <a:solidFill>
            <a:srgbClr val="F1E9D2"/>
          </a:solidFill>
          <a:ln/>
        </p:spPr>
      </p:sp>
      <p:sp>
        <p:nvSpPr>
          <p:cNvPr id="12" name="Text 9"/>
          <p:cNvSpPr/>
          <p:nvPr/>
        </p:nvSpPr>
        <p:spPr>
          <a:xfrm>
            <a:off x="7824192" y="4044553"/>
            <a:ext cx="4440317" cy="288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Challenge: Managing dynamic word list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7824192" y="4517708"/>
            <a:ext cx="5959912" cy="303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Solution: Implemented </a:t>
            </a:r>
            <a:r>
              <a:rPr lang="en-US" sz="1450" dirty="0">
                <a:solidFill>
                  <a:srgbClr val="FFFFFF"/>
                </a:solidFill>
                <a:highlight>
                  <a:srgbClr val="4D4D4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loadWordsFromFile()</a:t>
            </a:r>
            <a:r>
              <a:rPr lang="en-US" sz="14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with </a:t>
            </a:r>
            <a:r>
              <a:rPr lang="en-US" sz="1450" dirty="0">
                <a:solidFill>
                  <a:srgbClr val="FFFFFF"/>
                </a:solidFill>
                <a:highlight>
                  <a:srgbClr val="4D4D4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malloc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7548086" y="5212913"/>
            <a:ext cx="6443543" cy="1191220"/>
          </a:xfrm>
          <a:prstGeom prst="roundRect">
            <a:avLst>
              <a:gd name="adj" fmla="val 9211"/>
            </a:avLst>
          </a:prstGeom>
          <a:solidFill>
            <a:srgbClr val="404040"/>
          </a:solidFill>
          <a:ln w="22860">
            <a:solidFill>
              <a:srgbClr val="F1E9D2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525226" y="5212913"/>
            <a:ext cx="91440" cy="1191220"/>
          </a:xfrm>
          <a:prstGeom prst="roundRect">
            <a:avLst>
              <a:gd name="adj" fmla="val 84843"/>
            </a:avLst>
          </a:prstGeom>
          <a:solidFill>
            <a:srgbClr val="F1E9D2"/>
          </a:solidFill>
          <a:ln/>
        </p:spPr>
      </p:sp>
      <p:sp>
        <p:nvSpPr>
          <p:cNvPr id="16" name="Text 13"/>
          <p:cNvSpPr/>
          <p:nvPr/>
        </p:nvSpPr>
        <p:spPr>
          <a:xfrm>
            <a:off x="7824192" y="5420439"/>
            <a:ext cx="3801785" cy="288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Challenge: Keeping code modular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7824192" y="5893594"/>
            <a:ext cx="5959912" cy="303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Solution: Created separate </a:t>
            </a:r>
            <a:r>
              <a:rPr lang="en-US" sz="1450" dirty="0">
                <a:solidFill>
                  <a:srgbClr val="FFFFFF"/>
                </a:solidFill>
                <a:highlight>
                  <a:srgbClr val="4D4D4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.h</a:t>
            </a:r>
            <a:r>
              <a:rPr lang="en-US" sz="14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headers for clear interfaces</a:t>
            </a:r>
            <a:endParaRPr lang="en-US" sz="1450" dirty="0"/>
          </a:p>
        </p:txBody>
      </p:sp>
      <p:sp>
        <p:nvSpPr>
          <p:cNvPr id="19" name="TextBox 18"/>
          <p:cNvSpPr txBox="1"/>
          <p:nvPr/>
        </p:nvSpPr>
        <p:spPr>
          <a:xfrm>
            <a:off x="3512582" y="7750751"/>
            <a:ext cx="77844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Group-3 | Members: Intisar </a:t>
            </a:r>
            <a:r>
              <a:rPr lang="en-US" sz="1600" dirty="0" err="1">
                <a:solidFill>
                  <a:schemeClr val="bg1">
                    <a:lumMod val="65000"/>
                  </a:schemeClr>
                </a:solidFill>
              </a:rPr>
              <a:t>Binthay</a:t>
            </a: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bg1">
                    <a:lumMod val="65000"/>
                  </a:schemeClr>
                </a:solidFill>
              </a:rPr>
              <a:t>Fauzul</a:t>
            </a: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, </a:t>
            </a:r>
            <a:r>
              <a:rPr lang="en-US" sz="1600" dirty="0" err="1">
                <a:solidFill>
                  <a:schemeClr val="bg1">
                    <a:lumMod val="65000"/>
                  </a:schemeClr>
                </a:solidFill>
              </a:rPr>
              <a:t>Ashfaqul</a:t>
            </a: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bg1">
                    <a:lumMod val="65000"/>
                  </a:schemeClr>
                </a:solidFill>
              </a:rPr>
              <a:t>Alam</a:t>
            </a: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, Syed Sadat Hasan, </a:t>
            </a:r>
            <a:r>
              <a:rPr lang="en-US" sz="1600" dirty="0" err="1">
                <a:solidFill>
                  <a:schemeClr val="bg1">
                    <a:lumMod val="65000"/>
                  </a:schemeClr>
                </a:solidFill>
              </a:rPr>
              <a:t>Rafiha</a:t>
            </a: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bg1">
                    <a:lumMod val="65000"/>
                  </a:schemeClr>
                </a:solidFill>
              </a:rPr>
              <a:t>Saleha</a:t>
            </a:r>
            <a:endParaRPr lang="en-US" sz="16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3164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20604" y="3658433"/>
            <a:ext cx="4942046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 smtClean="0">
                <a:solidFill>
                  <a:schemeClr val="bg1">
                    <a:lumMod val="95000"/>
                  </a:schemeClr>
                </a:solidFill>
                <a:latin typeface="Inter Bold" panose="02000503000000020004" pitchFamily="2" charset="0"/>
                <a:ea typeface="Inter Bold" panose="02000503000000020004" pitchFamily="2" charset="0"/>
                <a:cs typeface="Gelasio" pitchFamily="34" charset="-120"/>
              </a:rPr>
              <a:t>Potential upgrades to the game</a:t>
            </a:r>
            <a:endParaRPr lang="en-US" sz="3550" dirty="0">
              <a:solidFill>
                <a:schemeClr val="bg1">
                  <a:lumMod val="95000"/>
                </a:schemeClr>
              </a:solidFill>
              <a:latin typeface="Inter Bold" panose="02000503000000020004" pitchFamily="2" charset="0"/>
              <a:ea typeface="Inter Bold" panose="02000503000000020004" pitchFamily="2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793790" y="4565571"/>
            <a:ext cx="6407944" cy="1306949"/>
          </a:xfrm>
          <a:prstGeom prst="roundRect">
            <a:avLst>
              <a:gd name="adj" fmla="val 41653"/>
            </a:avLst>
          </a:prstGeom>
          <a:solidFill>
            <a:srgbClr val="3734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1020604" y="4792385"/>
            <a:ext cx="295525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chemeClr val="bg1">
                    <a:lumMod val="95000"/>
                  </a:schemeClr>
                </a:solidFill>
                <a:latin typeface="Inter" panose="02000503000000020004" charset="0"/>
                <a:ea typeface="Inter" panose="02000503000000020004" charset="0"/>
                <a:cs typeface="Inter" panose="02000503000000020004" charset="0"/>
              </a:rPr>
              <a:t>Easier or Harder Levels</a:t>
            </a:r>
          </a:p>
        </p:txBody>
      </p:sp>
      <p:sp>
        <p:nvSpPr>
          <p:cNvPr id="6" name="Text 3"/>
          <p:cNvSpPr/>
          <p:nvPr/>
        </p:nvSpPr>
        <p:spPr>
          <a:xfrm>
            <a:off x="1020604" y="5282803"/>
            <a:ext cx="59543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chemeClr val="bg1">
                    <a:lumMod val="95000"/>
                  </a:schemeClr>
                </a:solidFill>
                <a:latin typeface="Inter" panose="02000503000000020004" charset="0"/>
                <a:ea typeface="Inter" panose="02000503000000020004" charset="0"/>
                <a:cs typeface="Inter" panose="02000503000000020004" charset="0"/>
              </a:rPr>
              <a:t>Change how long words are and how many tries you get.</a:t>
            </a:r>
          </a:p>
        </p:txBody>
      </p:sp>
      <p:sp>
        <p:nvSpPr>
          <p:cNvPr id="7" name="Shape 4"/>
          <p:cNvSpPr/>
          <p:nvPr/>
        </p:nvSpPr>
        <p:spPr>
          <a:xfrm>
            <a:off x="7428548" y="4565571"/>
            <a:ext cx="6408063" cy="1306949"/>
          </a:xfrm>
          <a:prstGeom prst="roundRect">
            <a:avLst>
              <a:gd name="adj" fmla="val 41653"/>
            </a:avLst>
          </a:prstGeom>
          <a:solidFill>
            <a:srgbClr val="3734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655362" y="479238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chemeClr val="bg1">
                    <a:lumMod val="95000"/>
                  </a:schemeClr>
                </a:solidFill>
                <a:latin typeface="Inter" panose="02000503000000020004" charset="0"/>
                <a:ea typeface="Inter" panose="02000503000000020004" charset="0"/>
                <a:cs typeface="Inter" panose="02000503000000020004" charset="0"/>
              </a:rPr>
              <a:t>Word Groups</a:t>
            </a:r>
          </a:p>
        </p:txBody>
      </p:sp>
      <p:sp>
        <p:nvSpPr>
          <p:cNvPr id="9" name="Text 6"/>
          <p:cNvSpPr/>
          <p:nvPr/>
        </p:nvSpPr>
        <p:spPr>
          <a:xfrm>
            <a:off x="7655362" y="5282803"/>
            <a:ext cx="59544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chemeClr val="bg1">
                    <a:lumMod val="95000"/>
                  </a:schemeClr>
                </a:solidFill>
                <a:latin typeface="Inter" panose="02000503000000020004" charset="0"/>
                <a:ea typeface="Inter" panose="02000503000000020004" charset="0"/>
                <a:cs typeface="Inter" panose="02000503000000020004" charset="0"/>
              </a:rPr>
              <a:t>Play with words about animals, movies, or countries.</a:t>
            </a:r>
          </a:p>
        </p:txBody>
      </p:sp>
      <p:sp>
        <p:nvSpPr>
          <p:cNvPr id="10" name="Shape 7"/>
          <p:cNvSpPr/>
          <p:nvPr/>
        </p:nvSpPr>
        <p:spPr>
          <a:xfrm>
            <a:off x="793790" y="6099334"/>
            <a:ext cx="6407944" cy="1306949"/>
          </a:xfrm>
          <a:prstGeom prst="roundRect">
            <a:avLst>
              <a:gd name="adj" fmla="val 41653"/>
            </a:avLst>
          </a:prstGeom>
          <a:solidFill>
            <a:srgbClr val="3734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1020604" y="63261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chemeClr val="bg1">
                    <a:lumMod val="95000"/>
                  </a:schemeClr>
                </a:solidFill>
                <a:latin typeface="Inter" panose="02000503000000020004" charset="0"/>
                <a:ea typeface="Inter" panose="02000503000000020004" charset="0"/>
                <a:cs typeface="Inter" panose="02000503000000020004" charset="0"/>
              </a:rPr>
              <a:t>Better Pictures</a:t>
            </a:r>
          </a:p>
        </p:txBody>
      </p:sp>
      <p:sp>
        <p:nvSpPr>
          <p:cNvPr id="12" name="Text 9"/>
          <p:cNvSpPr/>
          <p:nvPr/>
        </p:nvSpPr>
        <p:spPr>
          <a:xfrm>
            <a:off x="1020604" y="6816566"/>
            <a:ext cx="59543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chemeClr val="bg1">
                    <a:lumMod val="95000"/>
                  </a:schemeClr>
                </a:solidFill>
                <a:latin typeface="Inter" panose="02000503000000020004" charset="0"/>
                <a:ea typeface="Inter" panose="02000503000000020004" charset="0"/>
                <a:cs typeface="Inter" panose="02000503000000020004" charset="0"/>
              </a:rPr>
              <a:t>Move from simple text pictures to real graphics.</a:t>
            </a:r>
          </a:p>
        </p:txBody>
      </p:sp>
      <p:sp>
        <p:nvSpPr>
          <p:cNvPr id="13" name="Shape 10"/>
          <p:cNvSpPr/>
          <p:nvPr/>
        </p:nvSpPr>
        <p:spPr>
          <a:xfrm>
            <a:off x="7428548" y="6099334"/>
            <a:ext cx="6408063" cy="1306949"/>
          </a:xfrm>
          <a:prstGeom prst="roundRect">
            <a:avLst>
              <a:gd name="adj" fmla="val 41653"/>
            </a:avLst>
          </a:prstGeom>
          <a:solidFill>
            <a:srgbClr val="3734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7655362" y="63261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 smtClean="0">
                <a:solidFill>
                  <a:schemeClr val="bg1">
                    <a:lumMod val="95000"/>
                  </a:schemeClr>
                </a:solidFill>
                <a:latin typeface="Inter" panose="02000503000000020004" charset="0"/>
                <a:ea typeface="Inter" panose="02000503000000020004" charset="0"/>
                <a:cs typeface="Inter" panose="02000503000000020004" charset="0"/>
              </a:rPr>
              <a:t>Play with Friends</a:t>
            </a:r>
            <a:endParaRPr lang="en-US" sz="2200" dirty="0">
              <a:solidFill>
                <a:schemeClr val="bg1">
                  <a:lumMod val="95000"/>
                </a:schemeClr>
              </a:solidFill>
              <a:latin typeface="Inter" panose="02000503000000020004" charset="0"/>
              <a:ea typeface="Inter" panose="02000503000000020004" charset="0"/>
              <a:cs typeface="Inter" panose="02000503000000020004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7655362" y="6816566"/>
            <a:ext cx="59544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chemeClr val="bg1">
                    <a:lumMod val="95000"/>
                  </a:schemeClr>
                </a:solidFill>
                <a:latin typeface="Inter" panose="02000503000000020004" charset="0"/>
                <a:ea typeface="Inter" panose="02000503000000020004" charset="0"/>
                <a:cs typeface="Inter" panose="02000503000000020004" charset="0"/>
              </a:rPr>
              <a:t>One person picks a word, another tries to guess it.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36300" y="7750751"/>
            <a:ext cx="77844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Group-3 | Members: Intisar </a:t>
            </a:r>
            <a:r>
              <a:rPr lang="en-US" sz="1600" dirty="0" err="1">
                <a:solidFill>
                  <a:schemeClr val="bg1">
                    <a:lumMod val="65000"/>
                  </a:schemeClr>
                </a:solidFill>
              </a:rPr>
              <a:t>Binthay</a:t>
            </a: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bg1">
                    <a:lumMod val="65000"/>
                  </a:schemeClr>
                </a:solidFill>
              </a:rPr>
              <a:t>Fauzul</a:t>
            </a: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, </a:t>
            </a:r>
            <a:r>
              <a:rPr lang="en-US" sz="1600" dirty="0" err="1">
                <a:solidFill>
                  <a:schemeClr val="bg1">
                    <a:lumMod val="65000"/>
                  </a:schemeClr>
                </a:solidFill>
              </a:rPr>
              <a:t>Ashfaqul</a:t>
            </a: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bg1">
                    <a:lumMod val="65000"/>
                  </a:schemeClr>
                </a:solidFill>
              </a:rPr>
              <a:t>Alam</a:t>
            </a: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, Syed Sadat Hasan, </a:t>
            </a:r>
            <a:r>
              <a:rPr lang="en-US" sz="1600" dirty="0" err="1">
                <a:solidFill>
                  <a:schemeClr val="bg1">
                    <a:lumMod val="65000"/>
                  </a:schemeClr>
                </a:solidFill>
              </a:rPr>
              <a:t>Rafiha</a:t>
            </a: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bg1">
                    <a:lumMod val="65000"/>
                  </a:schemeClr>
                </a:solidFill>
              </a:rPr>
              <a:t>Saleha</a:t>
            </a:r>
            <a:endParaRPr lang="en-US" sz="1600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 rotWithShape="1">
          <a:blip r:embed="rId3"/>
          <a:srcRect l="96044" t="1046" r="92" b="69017"/>
          <a:stretch/>
        </p:blipFill>
        <p:spPr>
          <a:xfrm flipV="1">
            <a:off x="2577673" y="1901270"/>
            <a:ext cx="1601093" cy="545365"/>
          </a:xfrm>
          <a:prstGeom prst="rect">
            <a:avLst/>
          </a:prstGeom>
        </p:spPr>
      </p:pic>
      <p:pic>
        <p:nvPicPr>
          <p:cNvPr id="20" name="Image 0" descr="preencoded.png"/>
          <p:cNvPicPr>
            <a:picLocks noChangeAspect="1"/>
          </p:cNvPicPr>
          <p:nvPr/>
        </p:nvPicPr>
        <p:blipFill rotWithShape="1">
          <a:blip r:embed="rId3"/>
          <a:srcRect l="96044" t="1046" r="92" b="69017"/>
          <a:stretch/>
        </p:blipFill>
        <p:spPr>
          <a:xfrm flipV="1">
            <a:off x="9690050" y="1994001"/>
            <a:ext cx="1601093" cy="54536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210</TotalTime>
  <Words>929</Words>
  <Application>Microsoft Office PowerPoint</Application>
  <PresentationFormat>Custom</PresentationFormat>
  <Paragraphs>141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Calibri</vt:lpstr>
      <vt:lpstr>Wingdings</vt:lpstr>
      <vt:lpstr>Inter Bold</vt:lpstr>
      <vt:lpstr>Consolas</vt:lpstr>
      <vt:lpstr>Arial</vt:lpstr>
      <vt:lpstr>Inter</vt:lpstr>
      <vt:lpstr>Gelasio</vt:lpstr>
      <vt:lpstr>Aptos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user</cp:lastModifiedBy>
  <cp:revision>24</cp:revision>
  <dcterms:created xsi:type="dcterms:W3CDTF">2025-12-13T06:30:21Z</dcterms:created>
  <dcterms:modified xsi:type="dcterms:W3CDTF">2025-12-13T22:05:38Z</dcterms:modified>
</cp:coreProperties>
</file>